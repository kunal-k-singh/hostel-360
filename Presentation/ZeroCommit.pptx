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nvaSansSC-Regular" panose="020B0604020202020204" charset="-128"/>
      <p:regular r:id="rId8"/>
    </p:embeddedFont>
    <p:embeddedFont>
      <p:font typeface="Arial Bold" panose="020B0704020202020204" pitchFamily="34" charset="0"/>
      <p:regular r:id="rId9"/>
      <p:bold r:id="rId10"/>
    </p:embeddedFon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Bricolage Grotesque" panose="020B0604020202020204" charset="0"/>
      <p:regular r:id="rId13"/>
    </p:embeddedFont>
    <p:embeddedFont>
      <p:font typeface="Bricolage Grotesque Bold" panose="020B0604020202020204" charset="0"/>
      <p:regular r:id="rId14"/>
    </p:embeddedFont>
    <p:embeddedFont>
      <p:font typeface="Code" panose="020B0604020202020204" charset="0"/>
      <p:regular r:id="rId15"/>
    </p:embeddedFont>
    <p:embeddedFont>
      <p:font typeface="Code Bold" panose="020B0604020202020204" charset="0"/>
      <p:regular r:id="rId16"/>
    </p:embeddedFont>
    <p:embeddedFont>
      <p:font typeface="Garamond Bold" panose="02020804030307010803" pitchFamily="18" charset="0"/>
      <p:regular r:id="rId17"/>
      <p:bold r:id="rId18"/>
    </p:embeddedFont>
    <p:embeddedFont>
      <p:font typeface="Montserrat" panose="00000500000000000000" pitchFamily="2" charset="0"/>
      <p:regular r:id="rId19"/>
    </p:embeddedFont>
    <p:embeddedFont>
      <p:font typeface="Poppins" panose="00000500000000000000" pitchFamily="2" charset="0"/>
      <p:regular r:id="rId20"/>
    </p:embeddedFont>
    <p:embeddedFont>
      <p:font typeface="Poppins Bold" panose="020B0604020202020204" charset="0"/>
      <p:regular r:id="rId21"/>
    </p:embeddedFont>
    <p:embeddedFont>
      <p:font typeface="Times New Roman MT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2" d="100"/>
          <a:sy n="52" d="100"/>
        </p:scale>
        <p:origin x="220" y="-2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presProps" Target="pres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sv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19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12" Type="http://schemas.openxmlformats.org/officeDocument/2006/relationships/image" Target="../media/image30.svg"/><Relationship Id="rId17" Type="http://schemas.openxmlformats.org/officeDocument/2006/relationships/image" Target="../media/image2.png"/><Relationship Id="rId2" Type="http://schemas.openxmlformats.org/officeDocument/2006/relationships/image" Target="../media/image20.sv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5" Type="http://schemas.openxmlformats.org/officeDocument/2006/relationships/image" Target="../media/image33.svg"/><Relationship Id="rId10" Type="http://schemas.openxmlformats.org/officeDocument/2006/relationships/image" Target="../media/image28.png"/><Relationship Id="rId4" Type="http://schemas.openxmlformats.org/officeDocument/2006/relationships/image" Target="../media/image22.svg"/><Relationship Id="rId9" Type="http://schemas.openxmlformats.org/officeDocument/2006/relationships/image" Target="../media/image27.svg"/><Relationship Id="rId14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svg"/><Relationship Id="rId5" Type="http://schemas.openxmlformats.org/officeDocument/2006/relationships/image" Target="../media/image37.svg"/><Relationship Id="rId10" Type="http://schemas.openxmlformats.org/officeDocument/2006/relationships/image" Target="../media/image42.svg"/><Relationship Id="rId4" Type="http://schemas.openxmlformats.org/officeDocument/2006/relationships/image" Target="../media/image36.svg"/><Relationship Id="rId9" Type="http://schemas.openxmlformats.org/officeDocument/2006/relationships/image" Target="../media/image4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svg"/><Relationship Id="rId7" Type="http://schemas.openxmlformats.org/officeDocument/2006/relationships/image" Target="../media/image49.svg"/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svg"/><Relationship Id="rId11" Type="http://schemas.openxmlformats.org/officeDocument/2006/relationships/image" Target="../media/image2.png"/><Relationship Id="rId5" Type="http://schemas.openxmlformats.org/officeDocument/2006/relationships/image" Target="../media/image47.svg"/><Relationship Id="rId10" Type="http://schemas.openxmlformats.org/officeDocument/2006/relationships/image" Target="../media/image52.png"/><Relationship Id="rId4" Type="http://schemas.openxmlformats.org/officeDocument/2006/relationships/image" Target="../media/image46.svg"/><Relationship Id="rId9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42237" y="1930375"/>
            <a:ext cx="6953021" cy="7734300"/>
            <a:chOff x="0" y="0"/>
            <a:chExt cx="6953021" cy="7734300"/>
          </a:xfrm>
        </p:grpSpPr>
        <p:sp>
          <p:nvSpPr>
            <p:cNvPr id="3" name="Freeform 3"/>
            <p:cNvSpPr/>
            <p:nvPr/>
          </p:nvSpPr>
          <p:spPr>
            <a:xfrm>
              <a:off x="-63" y="0"/>
              <a:ext cx="6952960" cy="7734301"/>
            </a:xfrm>
            <a:custGeom>
              <a:avLst/>
              <a:gdLst/>
              <a:ahLst/>
              <a:cxnLst/>
              <a:rect l="l" t="t" r="r" b="b"/>
              <a:pathLst>
                <a:path w="6952960" h="7734301">
                  <a:moveTo>
                    <a:pt x="408368" y="4688967"/>
                  </a:moveTo>
                  <a:cubicBezTo>
                    <a:pt x="408368" y="4688967"/>
                    <a:pt x="408368" y="4688967"/>
                    <a:pt x="1009966" y="4688967"/>
                  </a:cubicBezTo>
                  <a:cubicBezTo>
                    <a:pt x="1047685" y="4688967"/>
                    <a:pt x="1084007" y="4716653"/>
                    <a:pt x="1102168" y="4761611"/>
                  </a:cubicBezTo>
                  <a:cubicBezTo>
                    <a:pt x="1102168" y="4761611"/>
                    <a:pt x="1102168" y="4761611"/>
                    <a:pt x="1403666" y="5454396"/>
                  </a:cubicBezTo>
                  <a:cubicBezTo>
                    <a:pt x="1423224" y="5497576"/>
                    <a:pt x="1423224" y="5552948"/>
                    <a:pt x="1403666" y="5596128"/>
                  </a:cubicBezTo>
                  <a:cubicBezTo>
                    <a:pt x="1403666" y="5596128"/>
                    <a:pt x="1403666" y="5596128"/>
                    <a:pt x="1102168" y="6288913"/>
                  </a:cubicBezTo>
                  <a:cubicBezTo>
                    <a:pt x="1084007" y="6333744"/>
                    <a:pt x="1047685" y="6361557"/>
                    <a:pt x="1009966" y="6361557"/>
                  </a:cubicBezTo>
                  <a:cubicBezTo>
                    <a:pt x="1009966" y="6361557"/>
                    <a:pt x="1009966" y="6361557"/>
                    <a:pt x="408368" y="6361557"/>
                  </a:cubicBezTo>
                  <a:cubicBezTo>
                    <a:pt x="369379" y="6361557"/>
                    <a:pt x="334327" y="6333871"/>
                    <a:pt x="314769" y="6288913"/>
                  </a:cubicBezTo>
                  <a:cubicBezTo>
                    <a:pt x="314769" y="6288913"/>
                    <a:pt x="314769" y="6288913"/>
                    <a:pt x="14668" y="5596128"/>
                  </a:cubicBezTo>
                  <a:cubicBezTo>
                    <a:pt x="-4890" y="5552948"/>
                    <a:pt x="-4890" y="5497576"/>
                    <a:pt x="14668" y="5454396"/>
                  </a:cubicBezTo>
                  <a:cubicBezTo>
                    <a:pt x="14668" y="5454396"/>
                    <a:pt x="14668" y="5454396"/>
                    <a:pt x="314769" y="4761611"/>
                  </a:cubicBezTo>
                  <a:cubicBezTo>
                    <a:pt x="334327" y="4716780"/>
                    <a:pt x="369252" y="4688967"/>
                    <a:pt x="408368" y="4688967"/>
                  </a:cubicBezTo>
                  <a:close/>
                  <a:moveTo>
                    <a:pt x="2799014" y="855218"/>
                  </a:moveTo>
                  <a:cubicBezTo>
                    <a:pt x="2799014" y="855218"/>
                    <a:pt x="2799014" y="855218"/>
                    <a:pt x="3108386" y="855218"/>
                  </a:cubicBezTo>
                  <a:lnTo>
                    <a:pt x="3144454" y="855218"/>
                  </a:lnTo>
                  <a:lnTo>
                    <a:pt x="3178871" y="934339"/>
                  </a:lnTo>
                  <a:cubicBezTo>
                    <a:pt x="3226877" y="1044575"/>
                    <a:pt x="3282630" y="1172718"/>
                    <a:pt x="3347527" y="1321943"/>
                  </a:cubicBezTo>
                  <a:cubicBezTo>
                    <a:pt x="3377372" y="1388110"/>
                    <a:pt x="3377372" y="1472819"/>
                    <a:pt x="3347527" y="1538859"/>
                  </a:cubicBezTo>
                  <a:cubicBezTo>
                    <a:pt x="3347527" y="1538859"/>
                    <a:pt x="3347527" y="1538859"/>
                    <a:pt x="2885882" y="2599817"/>
                  </a:cubicBezTo>
                  <a:cubicBezTo>
                    <a:pt x="2857942" y="2668651"/>
                    <a:pt x="2802317" y="2710942"/>
                    <a:pt x="2744658" y="2710942"/>
                  </a:cubicBezTo>
                  <a:cubicBezTo>
                    <a:pt x="2744658" y="2710942"/>
                    <a:pt x="2744658" y="2710942"/>
                    <a:pt x="1823401" y="2710942"/>
                  </a:cubicBezTo>
                  <a:cubicBezTo>
                    <a:pt x="1808415" y="2710942"/>
                    <a:pt x="1793937" y="2708275"/>
                    <a:pt x="1779967" y="2703195"/>
                  </a:cubicBezTo>
                  <a:lnTo>
                    <a:pt x="1750122" y="2686558"/>
                  </a:lnTo>
                  <a:lnTo>
                    <a:pt x="1768410" y="2644394"/>
                  </a:lnTo>
                  <a:cubicBezTo>
                    <a:pt x="1933256" y="2263902"/>
                    <a:pt x="2144203" y="1776984"/>
                    <a:pt x="2414332" y="1153541"/>
                  </a:cubicBezTo>
                  <a:cubicBezTo>
                    <a:pt x="2494469" y="968756"/>
                    <a:pt x="2638741" y="855091"/>
                    <a:pt x="2799141" y="855091"/>
                  </a:cubicBezTo>
                  <a:lnTo>
                    <a:pt x="2799014" y="855091"/>
                  </a:lnTo>
                  <a:close/>
                  <a:moveTo>
                    <a:pt x="1768791" y="0"/>
                  </a:moveTo>
                  <a:cubicBezTo>
                    <a:pt x="1768791" y="0"/>
                    <a:pt x="1768791" y="0"/>
                    <a:pt x="2808032" y="0"/>
                  </a:cubicBezTo>
                  <a:cubicBezTo>
                    <a:pt x="2873183" y="0"/>
                    <a:pt x="2935921" y="47752"/>
                    <a:pt x="2967417" y="125349"/>
                  </a:cubicBezTo>
                  <a:cubicBezTo>
                    <a:pt x="2967417" y="125349"/>
                    <a:pt x="2967417" y="125349"/>
                    <a:pt x="3246689" y="767334"/>
                  </a:cubicBezTo>
                  <a:lnTo>
                    <a:pt x="3278185" y="839851"/>
                  </a:lnTo>
                  <a:lnTo>
                    <a:pt x="3253293" y="839851"/>
                  </a:lnTo>
                  <a:lnTo>
                    <a:pt x="3135945" y="839851"/>
                  </a:lnTo>
                  <a:lnTo>
                    <a:pt x="3084891" y="722630"/>
                  </a:lnTo>
                  <a:cubicBezTo>
                    <a:pt x="2890200" y="275082"/>
                    <a:pt x="2890200" y="275082"/>
                    <a:pt x="2890200" y="275082"/>
                  </a:cubicBezTo>
                  <a:cubicBezTo>
                    <a:pt x="2862260" y="206248"/>
                    <a:pt x="2806634" y="163957"/>
                    <a:pt x="2748976" y="163957"/>
                  </a:cubicBezTo>
                  <a:cubicBezTo>
                    <a:pt x="1827719" y="163957"/>
                    <a:pt x="1827719" y="163957"/>
                    <a:pt x="1827719" y="163957"/>
                  </a:cubicBezTo>
                  <a:cubicBezTo>
                    <a:pt x="1768029" y="163957"/>
                    <a:pt x="1714308" y="206248"/>
                    <a:pt x="1684463" y="275082"/>
                  </a:cubicBezTo>
                  <a:cubicBezTo>
                    <a:pt x="1224723" y="1336040"/>
                    <a:pt x="1224723" y="1336040"/>
                    <a:pt x="1224723" y="1336040"/>
                  </a:cubicBezTo>
                  <a:cubicBezTo>
                    <a:pt x="1194878" y="1402207"/>
                    <a:pt x="1194878" y="1486916"/>
                    <a:pt x="1224723" y="1552956"/>
                  </a:cubicBezTo>
                  <a:cubicBezTo>
                    <a:pt x="1684336" y="2613914"/>
                    <a:pt x="1684336" y="2613914"/>
                    <a:pt x="1684336" y="2613914"/>
                  </a:cubicBezTo>
                  <a:cubicBezTo>
                    <a:pt x="1699322" y="2648331"/>
                    <a:pt x="1720150" y="2676144"/>
                    <a:pt x="1744788" y="2695321"/>
                  </a:cubicBezTo>
                  <a:lnTo>
                    <a:pt x="1751773" y="2699258"/>
                  </a:lnTo>
                  <a:lnTo>
                    <a:pt x="1714308" y="2785745"/>
                  </a:lnTo>
                  <a:lnTo>
                    <a:pt x="1686368" y="2850134"/>
                  </a:lnTo>
                  <a:lnTo>
                    <a:pt x="1715324" y="2866390"/>
                  </a:lnTo>
                  <a:cubicBezTo>
                    <a:pt x="1731072" y="2872105"/>
                    <a:pt x="1747455" y="2875026"/>
                    <a:pt x="1764219" y="2875026"/>
                  </a:cubicBezTo>
                  <a:cubicBezTo>
                    <a:pt x="2803460" y="2875026"/>
                    <a:pt x="2803460" y="2875026"/>
                    <a:pt x="2803460" y="2875026"/>
                  </a:cubicBezTo>
                  <a:cubicBezTo>
                    <a:pt x="2868610" y="2875026"/>
                    <a:pt x="2931348" y="2827274"/>
                    <a:pt x="2962845" y="2749677"/>
                  </a:cubicBezTo>
                  <a:cubicBezTo>
                    <a:pt x="3483544" y="1552956"/>
                    <a:pt x="3483544" y="1552956"/>
                    <a:pt x="3483544" y="1552956"/>
                  </a:cubicBezTo>
                  <a:cubicBezTo>
                    <a:pt x="3517199" y="1478407"/>
                    <a:pt x="3517199" y="1382776"/>
                    <a:pt x="3483544" y="1308227"/>
                  </a:cubicBezTo>
                  <a:cubicBezTo>
                    <a:pt x="3418393" y="1158621"/>
                    <a:pt x="3361497" y="1027684"/>
                    <a:pt x="3311586" y="913257"/>
                  </a:cubicBezTo>
                  <a:lnTo>
                    <a:pt x="3286440" y="855472"/>
                  </a:lnTo>
                  <a:lnTo>
                    <a:pt x="3403026" y="855472"/>
                  </a:lnTo>
                  <a:cubicBezTo>
                    <a:pt x="3765484" y="855472"/>
                    <a:pt x="4345493" y="855472"/>
                    <a:pt x="5273354" y="855472"/>
                  </a:cubicBezTo>
                  <a:cubicBezTo>
                    <a:pt x="5428294" y="855472"/>
                    <a:pt x="5578027" y="969137"/>
                    <a:pt x="5652830" y="1153922"/>
                  </a:cubicBezTo>
                  <a:cubicBezTo>
                    <a:pt x="5652830" y="1153922"/>
                    <a:pt x="5652830" y="1153922"/>
                    <a:pt x="6892857" y="4003548"/>
                  </a:cubicBezTo>
                  <a:cubicBezTo>
                    <a:pt x="6972994" y="4181222"/>
                    <a:pt x="6972994" y="4408678"/>
                    <a:pt x="6892857" y="4586224"/>
                  </a:cubicBezTo>
                  <a:cubicBezTo>
                    <a:pt x="6892857" y="4586224"/>
                    <a:pt x="6892857" y="4586224"/>
                    <a:pt x="5652830" y="7435851"/>
                  </a:cubicBezTo>
                  <a:cubicBezTo>
                    <a:pt x="5578027" y="7620636"/>
                    <a:pt x="5428421" y="7734301"/>
                    <a:pt x="5273354" y="7734301"/>
                  </a:cubicBezTo>
                  <a:cubicBezTo>
                    <a:pt x="5273354" y="7734301"/>
                    <a:pt x="5273354" y="7734301"/>
                    <a:pt x="2798760" y="7734301"/>
                  </a:cubicBezTo>
                  <a:cubicBezTo>
                    <a:pt x="2638360" y="7734301"/>
                    <a:pt x="2494088" y="7620636"/>
                    <a:pt x="2413951" y="7435851"/>
                  </a:cubicBezTo>
                  <a:cubicBezTo>
                    <a:pt x="2413951" y="7435851"/>
                    <a:pt x="2413951" y="7435851"/>
                    <a:pt x="1179257" y="4586224"/>
                  </a:cubicBezTo>
                  <a:cubicBezTo>
                    <a:pt x="1099120" y="4408551"/>
                    <a:pt x="1099120" y="4181094"/>
                    <a:pt x="1179257" y="4003548"/>
                  </a:cubicBezTo>
                  <a:cubicBezTo>
                    <a:pt x="1179257" y="4003548"/>
                    <a:pt x="1179257" y="4003548"/>
                    <a:pt x="1637727" y="2945511"/>
                  </a:cubicBezTo>
                  <a:lnTo>
                    <a:pt x="1676462" y="2856230"/>
                  </a:lnTo>
                  <a:lnTo>
                    <a:pt x="1675192" y="2855468"/>
                  </a:lnTo>
                  <a:cubicBezTo>
                    <a:pt x="1647379" y="2833878"/>
                    <a:pt x="1623884" y="2802509"/>
                    <a:pt x="1606993" y="2763774"/>
                  </a:cubicBezTo>
                  <a:cubicBezTo>
                    <a:pt x="1606993" y="2763774"/>
                    <a:pt x="1606993" y="2763774"/>
                    <a:pt x="1088579" y="1567053"/>
                  </a:cubicBezTo>
                  <a:cubicBezTo>
                    <a:pt x="1054924" y="1492504"/>
                    <a:pt x="1054924" y="1396873"/>
                    <a:pt x="1088579" y="1322324"/>
                  </a:cubicBezTo>
                  <a:cubicBezTo>
                    <a:pt x="1088579" y="1322324"/>
                    <a:pt x="1088579" y="1322324"/>
                    <a:pt x="1606993" y="125603"/>
                  </a:cubicBezTo>
                  <a:cubicBezTo>
                    <a:pt x="1640902" y="47752"/>
                    <a:pt x="1701354" y="0"/>
                    <a:pt x="1768791" y="0"/>
                  </a:cubicBezTo>
                  <a:close/>
                </a:path>
              </a:pathLst>
            </a:custGeom>
            <a:solidFill>
              <a:srgbClr val="808080">
                <a:alpha val="1961"/>
              </a:srgbClr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632673" y="3531489"/>
            <a:ext cx="4805267" cy="5138299"/>
            <a:chOff x="0" y="0"/>
            <a:chExt cx="6407023" cy="68510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407023" cy="6851015"/>
            </a:xfrm>
            <a:custGeom>
              <a:avLst/>
              <a:gdLst/>
              <a:ahLst/>
              <a:cxnLst/>
              <a:rect l="l" t="t" r="r" b="b"/>
              <a:pathLst>
                <a:path w="6407023" h="6851015">
                  <a:moveTo>
                    <a:pt x="0" y="0"/>
                  </a:moveTo>
                  <a:lnTo>
                    <a:pt x="6407023" y="0"/>
                  </a:lnTo>
                  <a:lnTo>
                    <a:pt x="6407023" y="6851015"/>
                  </a:lnTo>
                  <a:lnTo>
                    <a:pt x="0" y="6851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14950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97230" y="3353924"/>
            <a:ext cx="104775" cy="104775"/>
            <a:chOff x="0" y="0"/>
            <a:chExt cx="104775" cy="104775"/>
          </a:xfrm>
        </p:grpSpPr>
        <p:sp>
          <p:nvSpPr>
            <p:cNvPr id="7" name="Freeform 7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97230" y="3973049"/>
            <a:ext cx="104775" cy="104775"/>
            <a:chOff x="0" y="0"/>
            <a:chExt cx="104775" cy="104775"/>
          </a:xfrm>
        </p:grpSpPr>
        <p:sp>
          <p:nvSpPr>
            <p:cNvPr id="9" name="Freeform 9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697230" y="5261724"/>
            <a:ext cx="104775" cy="104775"/>
            <a:chOff x="0" y="0"/>
            <a:chExt cx="104775" cy="104775"/>
          </a:xfrm>
        </p:grpSpPr>
        <p:sp>
          <p:nvSpPr>
            <p:cNvPr id="11" name="Freeform 11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697230" y="6499974"/>
            <a:ext cx="104775" cy="104775"/>
            <a:chOff x="0" y="0"/>
            <a:chExt cx="104775" cy="104775"/>
          </a:xfrm>
        </p:grpSpPr>
        <p:sp>
          <p:nvSpPr>
            <p:cNvPr id="13" name="Freeform 13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697230" y="7119099"/>
            <a:ext cx="104775" cy="104775"/>
            <a:chOff x="0" y="0"/>
            <a:chExt cx="104775" cy="104775"/>
          </a:xfrm>
        </p:grpSpPr>
        <p:sp>
          <p:nvSpPr>
            <p:cNvPr id="15" name="Freeform 15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697230" y="7738224"/>
            <a:ext cx="104775" cy="104775"/>
            <a:chOff x="0" y="0"/>
            <a:chExt cx="104775" cy="104775"/>
          </a:xfrm>
        </p:grpSpPr>
        <p:sp>
          <p:nvSpPr>
            <p:cNvPr id="17" name="Freeform 17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4781095" y="9449"/>
            <a:ext cx="3313652" cy="1684306"/>
            <a:chOff x="0" y="0"/>
            <a:chExt cx="4418203" cy="224574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867" b="-1867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9742189" y="1930375"/>
            <a:ext cx="6957908" cy="7732452"/>
            <a:chOff x="0" y="0"/>
            <a:chExt cx="6957911" cy="773244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957952" cy="7732390"/>
            </a:xfrm>
            <a:custGeom>
              <a:avLst/>
              <a:gdLst/>
              <a:ahLst/>
              <a:cxnLst/>
              <a:rect l="l" t="t" r="r" b="b"/>
              <a:pathLst>
                <a:path w="6957952" h="7732390">
                  <a:moveTo>
                    <a:pt x="0" y="7732390"/>
                  </a:moveTo>
                  <a:lnTo>
                    <a:pt x="6957952" y="7732390"/>
                  </a:lnTo>
                  <a:lnTo>
                    <a:pt x="69579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2451678" y="90640"/>
            <a:ext cx="12104936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1F497D"/>
                </a:solidFill>
                <a:latin typeface="Garamond Bold"/>
                <a:ea typeface="Garamond Bold"/>
                <a:cs typeface="Garamond Bold"/>
                <a:sym typeface="Garamond Bold"/>
              </a:rPr>
              <a:t>SMART INDIA HACKATHON 2026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75989" y="3083300"/>
            <a:ext cx="9753914" cy="1826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76"/>
              </a:lnSpc>
            </a:pPr>
            <a:r>
              <a:rPr lang="en-US" sz="2858" b="1" spc="1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USICT002</a:t>
            </a:r>
          </a:p>
          <a:p>
            <a:pPr algn="just">
              <a:lnSpc>
                <a:spcPts val="4876"/>
              </a:lnSpc>
            </a:pPr>
            <a:r>
              <a:rPr lang="en-US" sz="2858" b="1" spc="1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Low-Cost Lite Smart Hostel Allocation &amp; Optimization System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76284" y="5067300"/>
            <a:ext cx="1551554" cy="50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1"/>
              </a:lnSpc>
            </a:pPr>
            <a:r>
              <a:rPr lang="en-US" sz="2858" b="1" spc="1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055144" y="5067300"/>
            <a:ext cx="5674324" cy="468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01"/>
              </a:lnSpc>
            </a:pPr>
            <a:r>
              <a:rPr lang="en-US" sz="2858" b="1" spc="18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Smart Campus Management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27897" y="5076258"/>
            <a:ext cx="393583" cy="504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1"/>
              </a:lnSpc>
            </a:pPr>
            <a:r>
              <a:rPr lang="en-US" sz="2858" b="1" spc="18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&amp;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986662" y="5076258"/>
            <a:ext cx="1909937" cy="468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01"/>
              </a:lnSpc>
            </a:pPr>
            <a:r>
              <a:rPr lang="en-US" sz="2858" b="1" spc="180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Student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5989" y="5610225"/>
            <a:ext cx="7086530" cy="2445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6"/>
              </a:lnSpc>
            </a:pPr>
            <a:r>
              <a:rPr lang="en-US" sz="2858" b="1" spc="1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Security</a:t>
            </a:r>
          </a:p>
          <a:p>
            <a:pPr algn="l">
              <a:lnSpc>
                <a:spcPts val="4876"/>
              </a:lnSpc>
            </a:pPr>
            <a:r>
              <a:rPr lang="en-US" sz="2858" b="1" spc="1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l">
              <a:lnSpc>
                <a:spcPts val="4876"/>
              </a:lnSpc>
            </a:pPr>
            <a:r>
              <a:rPr lang="en-US" sz="2858" b="1" spc="1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</a:p>
          <a:p>
            <a:pPr algn="l">
              <a:lnSpc>
                <a:spcPts val="4876"/>
              </a:lnSpc>
            </a:pPr>
            <a:r>
              <a:rPr lang="en-US" sz="2858" b="1" spc="1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 - ZeroCommit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8136" y="1736369"/>
            <a:ext cx="7482840" cy="4141470"/>
          </a:xfrm>
          <a:custGeom>
            <a:avLst/>
            <a:gdLst/>
            <a:ahLst/>
            <a:cxnLst/>
            <a:rect l="l" t="t" r="r" b="b"/>
            <a:pathLst>
              <a:path w="7482840" h="4141470">
                <a:moveTo>
                  <a:pt x="0" y="0"/>
                </a:moveTo>
                <a:lnTo>
                  <a:pt x="7482840" y="0"/>
                </a:lnTo>
                <a:lnTo>
                  <a:pt x="7482840" y="4141470"/>
                </a:lnTo>
                <a:lnTo>
                  <a:pt x="0" y="4141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8136" y="1736369"/>
            <a:ext cx="17623069" cy="8517074"/>
          </a:xfrm>
          <a:custGeom>
            <a:avLst/>
            <a:gdLst/>
            <a:ahLst/>
            <a:cxnLst/>
            <a:rect l="l" t="t" r="r" b="b"/>
            <a:pathLst>
              <a:path w="17623069" h="8517074">
                <a:moveTo>
                  <a:pt x="0" y="0"/>
                </a:moveTo>
                <a:lnTo>
                  <a:pt x="17623070" y="0"/>
                </a:lnTo>
                <a:lnTo>
                  <a:pt x="17623070" y="8517074"/>
                </a:lnTo>
                <a:lnTo>
                  <a:pt x="0" y="8517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02550" y="6993341"/>
            <a:ext cx="800100" cy="790575"/>
            <a:chOff x="0" y="0"/>
            <a:chExt cx="1066800" cy="1054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800" cy="1054100"/>
            </a:xfrm>
            <a:custGeom>
              <a:avLst/>
              <a:gdLst/>
              <a:ahLst/>
              <a:cxnLst/>
              <a:rect l="l" t="t" r="r" b="b"/>
              <a:pathLst>
                <a:path w="1066800" h="1054100">
                  <a:moveTo>
                    <a:pt x="0" y="0"/>
                  </a:moveTo>
                  <a:lnTo>
                    <a:pt x="1066800" y="0"/>
                  </a:lnTo>
                  <a:lnTo>
                    <a:pt x="1066800" y="1054100"/>
                  </a:lnTo>
                  <a:lnTo>
                    <a:pt x="0" y="105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043569" y="9024938"/>
            <a:ext cx="3923700" cy="1157421"/>
          </a:xfrm>
          <a:custGeom>
            <a:avLst/>
            <a:gdLst/>
            <a:ahLst/>
            <a:cxnLst/>
            <a:rect l="l" t="t" r="r" b="b"/>
            <a:pathLst>
              <a:path w="3923700" h="1157421">
                <a:moveTo>
                  <a:pt x="0" y="0"/>
                </a:moveTo>
                <a:lnTo>
                  <a:pt x="3923699" y="0"/>
                </a:lnTo>
                <a:lnTo>
                  <a:pt x="3923699" y="1157420"/>
                </a:lnTo>
                <a:lnTo>
                  <a:pt x="0" y="11574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269863" y="9254919"/>
            <a:ext cx="723900" cy="723900"/>
            <a:chOff x="0" y="0"/>
            <a:chExt cx="965200" cy="965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65200" cy="965200"/>
            </a:xfrm>
            <a:custGeom>
              <a:avLst/>
              <a:gdLst/>
              <a:ahLst/>
              <a:cxnLst/>
              <a:rect l="l" t="t" r="r" b="b"/>
              <a:pathLst>
                <a:path w="965200" h="965200">
                  <a:moveTo>
                    <a:pt x="0" y="0"/>
                  </a:moveTo>
                  <a:lnTo>
                    <a:pt x="965200" y="0"/>
                  </a:lnTo>
                  <a:lnTo>
                    <a:pt x="965200" y="965200"/>
                  </a:lnTo>
                  <a:lnTo>
                    <a:pt x="0" y="96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043569" y="7925191"/>
            <a:ext cx="3923700" cy="1157421"/>
          </a:xfrm>
          <a:custGeom>
            <a:avLst/>
            <a:gdLst/>
            <a:ahLst/>
            <a:cxnLst/>
            <a:rect l="l" t="t" r="r" b="b"/>
            <a:pathLst>
              <a:path w="3923700" h="1157421">
                <a:moveTo>
                  <a:pt x="0" y="0"/>
                </a:moveTo>
                <a:lnTo>
                  <a:pt x="3923699" y="0"/>
                </a:lnTo>
                <a:lnTo>
                  <a:pt x="3923699" y="1157420"/>
                </a:lnTo>
                <a:lnTo>
                  <a:pt x="0" y="11574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168375" y="8093088"/>
            <a:ext cx="923925" cy="828675"/>
            <a:chOff x="0" y="0"/>
            <a:chExt cx="1231900" cy="11049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31900" cy="1104900"/>
            </a:xfrm>
            <a:custGeom>
              <a:avLst/>
              <a:gdLst/>
              <a:ahLst/>
              <a:cxnLst/>
              <a:rect l="l" t="t" r="r" b="b"/>
              <a:pathLst>
                <a:path w="1231900" h="1104900">
                  <a:moveTo>
                    <a:pt x="0" y="0"/>
                  </a:moveTo>
                  <a:lnTo>
                    <a:pt x="1231900" y="0"/>
                  </a:lnTo>
                  <a:lnTo>
                    <a:pt x="1231900" y="11049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7177478" y="7925191"/>
            <a:ext cx="3923700" cy="1157421"/>
          </a:xfrm>
          <a:custGeom>
            <a:avLst/>
            <a:gdLst/>
            <a:ahLst/>
            <a:cxnLst/>
            <a:rect l="l" t="t" r="r" b="b"/>
            <a:pathLst>
              <a:path w="3923700" h="1157421">
                <a:moveTo>
                  <a:pt x="0" y="0"/>
                </a:moveTo>
                <a:lnTo>
                  <a:pt x="3923700" y="0"/>
                </a:lnTo>
                <a:lnTo>
                  <a:pt x="3923700" y="1157420"/>
                </a:lnTo>
                <a:lnTo>
                  <a:pt x="0" y="11574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7351747" y="8151228"/>
            <a:ext cx="809625" cy="809625"/>
            <a:chOff x="0" y="0"/>
            <a:chExt cx="1079500" cy="10795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9500" cy="1079500"/>
            </a:xfrm>
            <a:custGeom>
              <a:avLst/>
              <a:gdLst/>
              <a:ahLst/>
              <a:cxnLst/>
              <a:rect l="l" t="t" r="r" b="b"/>
              <a:pathLst>
                <a:path w="1079500" h="1079500">
                  <a:moveTo>
                    <a:pt x="0" y="0"/>
                  </a:moveTo>
                  <a:lnTo>
                    <a:pt x="1079500" y="0"/>
                  </a:lnTo>
                  <a:lnTo>
                    <a:pt x="1079500" y="1079500"/>
                  </a:lnTo>
                  <a:lnTo>
                    <a:pt x="0" y="1079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15" name="Freeform 15"/>
          <p:cNvSpPr/>
          <p:nvPr/>
        </p:nvSpPr>
        <p:spPr>
          <a:xfrm>
            <a:off x="7180136" y="9025661"/>
            <a:ext cx="3921042" cy="1156706"/>
          </a:xfrm>
          <a:custGeom>
            <a:avLst/>
            <a:gdLst/>
            <a:ahLst/>
            <a:cxnLst/>
            <a:rect l="l" t="t" r="r" b="b"/>
            <a:pathLst>
              <a:path w="3921042" h="1156706">
                <a:moveTo>
                  <a:pt x="0" y="0"/>
                </a:moveTo>
                <a:lnTo>
                  <a:pt x="3921042" y="0"/>
                </a:lnTo>
                <a:lnTo>
                  <a:pt x="3921042" y="1156707"/>
                </a:lnTo>
                <a:lnTo>
                  <a:pt x="0" y="11567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7243639" y="9123988"/>
            <a:ext cx="1085850" cy="962025"/>
            <a:chOff x="0" y="0"/>
            <a:chExt cx="1447800" cy="12827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47800" cy="1282700"/>
            </a:xfrm>
            <a:custGeom>
              <a:avLst/>
              <a:gdLst/>
              <a:ahLst/>
              <a:cxnLst/>
              <a:rect l="l" t="t" r="r" b="b"/>
              <a:pathLst>
                <a:path w="1447800" h="1282700">
                  <a:moveTo>
                    <a:pt x="0" y="0"/>
                  </a:moveTo>
                  <a:lnTo>
                    <a:pt x="1447800" y="0"/>
                  </a:lnTo>
                  <a:lnTo>
                    <a:pt x="1447800" y="1282700"/>
                  </a:lnTo>
                  <a:lnTo>
                    <a:pt x="0" y="1282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7177478" y="6825444"/>
            <a:ext cx="3923700" cy="1157421"/>
          </a:xfrm>
          <a:custGeom>
            <a:avLst/>
            <a:gdLst/>
            <a:ahLst/>
            <a:cxnLst/>
            <a:rect l="l" t="t" r="r" b="b"/>
            <a:pathLst>
              <a:path w="3923700" h="1157421">
                <a:moveTo>
                  <a:pt x="0" y="0"/>
                </a:moveTo>
                <a:lnTo>
                  <a:pt x="3923700" y="0"/>
                </a:lnTo>
                <a:lnTo>
                  <a:pt x="3923700" y="1157420"/>
                </a:lnTo>
                <a:lnTo>
                  <a:pt x="0" y="11574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7345318" y="7048748"/>
            <a:ext cx="819150" cy="714375"/>
            <a:chOff x="0" y="0"/>
            <a:chExt cx="1092200" cy="952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92200" cy="952500"/>
            </a:xfrm>
            <a:custGeom>
              <a:avLst/>
              <a:gdLst/>
              <a:ahLst/>
              <a:cxnLst/>
              <a:rect l="l" t="t" r="r" b="b"/>
              <a:pathLst>
                <a:path w="1092200" h="952500">
                  <a:moveTo>
                    <a:pt x="0" y="0"/>
                  </a:moveTo>
                  <a:lnTo>
                    <a:pt x="1092200" y="0"/>
                  </a:lnTo>
                  <a:lnTo>
                    <a:pt x="10922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</p:grpSp>
      <p:sp>
        <p:nvSpPr>
          <p:cNvPr id="21" name="Freeform 21"/>
          <p:cNvSpPr/>
          <p:nvPr/>
        </p:nvSpPr>
        <p:spPr>
          <a:xfrm>
            <a:off x="12594965" y="6825444"/>
            <a:ext cx="3923700" cy="1157421"/>
          </a:xfrm>
          <a:custGeom>
            <a:avLst/>
            <a:gdLst/>
            <a:ahLst/>
            <a:cxnLst/>
            <a:rect l="l" t="t" r="r" b="b"/>
            <a:pathLst>
              <a:path w="3923700" h="1157421">
                <a:moveTo>
                  <a:pt x="0" y="0"/>
                </a:moveTo>
                <a:lnTo>
                  <a:pt x="3923700" y="0"/>
                </a:lnTo>
                <a:lnTo>
                  <a:pt x="3923700" y="1157420"/>
                </a:lnTo>
                <a:lnTo>
                  <a:pt x="0" y="11574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12738849" y="6911721"/>
            <a:ext cx="904875" cy="904875"/>
            <a:chOff x="0" y="0"/>
            <a:chExt cx="1206500" cy="12065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06500" cy="1206500"/>
            </a:xfrm>
            <a:custGeom>
              <a:avLst/>
              <a:gdLst/>
              <a:ahLst/>
              <a:cxnLst/>
              <a:rect l="l" t="t" r="r" b="b"/>
              <a:pathLst>
                <a:path w="1206500" h="1206500">
                  <a:moveTo>
                    <a:pt x="0" y="0"/>
                  </a:moveTo>
                  <a:lnTo>
                    <a:pt x="1206500" y="0"/>
                  </a:lnTo>
                  <a:lnTo>
                    <a:pt x="1206500" y="1206500"/>
                  </a:lnTo>
                  <a:lnTo>
                    <a:pt x="0" y="1206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sp>
        <p:nvSpPr>
          <p:cNvPr id="24" name="Freeform 24"/>
          <p:cNvSpPr/>
          <p:nvPr/>
        </p:nvSpPr>
        <p:spPr>
          <a:xfrm>
            <a:off x="12594965" y="7925191"/>
            <a:ext cx="3923700" cy="1157421"/>
          </a:xfrm>
          <a:custGeom>
            <a:avLst/>
            <a:gdLst/>
            <a:ahLst/>
            <a:cxnLst/>
            <a:rect l="l" t="t" r="r" b="b"/>
            <a:pathLst>
              <a:path w="3923700" h="1157421">
                <a:moveTo>
                  <a:pt x="0" y="0"/>
                </a:moveTo>
                <a:lnTo>
                  <a:pt x="3923700" y="0"/>
                </a:lnTo>
                <a:lnTo>
                  <a:pt x="3923700" y="1157420"/>
                </a:lnTo>
                <a:lnTo>
                  <a:pt x="0" y="11574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12747889" y="8093088"/>
            <a:ext cx="847725" cy="847725"/>
            <a:chOff x="0" y="0"/>
            <a:chExt cx="1130300" cy="11303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30300" cy="1130300"/>
            </a:xfrm>
            <a:custGeom>
              <a:avLst/>
              <a:gdLst/>
              <a:ahLst/>
              <a:cxnLst/>
              <a:rect l="l" t="t" r="r" b="b"/>
              <a:pathLst>
                <a:path w="1130300" h="1130300">
                  <a:moveTo>
                    <a:pt x="0" y="0"/>
                  </a:moveTo>
                  <a:lnTo>
                    <a:pt x="1130300" y="0"/>
                  </a:lnTo>
                  <a:lnTo>
                    <a:pt x="1130300" y="1130300"/>
                  </a:lnTo>
                  <a:lnTo>
                    <a:pt x="0" y="1130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328136" y="1736369"/>
            <a:ext cx="7489146" cy="4141470"/>
            <a:chOff x="0" y="0"/>
            <a:chExt cx="7489152" cy="4141470"/>
          </a:xfrm>
        </p:grpSpPr>
        <p:sp>
          <p:nvSpPr>
            <p:cNvPr id="28" name="Freeform 28"/>
            <p:cNvSpPr/>
            <p:nvPr/>
          </p:nvSpPr>
          <p:spPr>
            <a:xfrm>
              <a:off x="147447" y="63500"/>
              <a:ext cx="2707768" cy="886841"/>
            </a:xfrm>
            <a:custGeom>
              <a:avLst/>
              <a:gdLst/>
              <a:ahLst/>
              <a:cxnLst/>
              <a:rect l="l" t="t" r="r" b="b"/>
              <a:pathLst>
                <a:path w="2707768" h="886841">
                  <a:moveTo>
                    <a:pt x="0" y="886842"/>
                  </a:moveTo>
                  <a:lnTo>
                    <a:pt x="2707768" y="886842"/>
                  </a:lnTo>
                  <a:lnTo>
                    <a:pt x="270776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63500" y="629031"/>
              <a:ext cx="7362193" cy="3448941"/>
            </a:xfrm>
            <a:custGeom>
              <a:avLst/>
              <a:gdLst/>
              <a:ahLst/>
              <a:cxnLst/>
              <a:rect l="l" t="t" r="r" b="b"/>
              <a:pathLst>
                <a:path w="7362193" h="3448941">
                  <a:moveTo>
                    <a:pt x="0" y="3448941"/>
                  </a:moveTo>
                  <a:lnTo>
                    <a:pt x="7362193" y="3448941"/>
                  </a:lnTo>
                  <a:lnTo>
                    <a:pt x="73621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207645" y="2772031"/>
              <a:ext cx="255397" cy="283718"/>
            </a:xfrm>
            <a:custGeom>
              <a:avLst/>
              <a:gdLst/>
              <a:ahLst/>
              <a:cxnLst/>
              <a:rect l="l" t="t" r="r" b="b"/>
              <a:pathLst>
                <a:path w="255397" h="283718">
                  <a:moveTo>
                    <a:pt x="0" y="283718"/>
                  </a:moveTo>
                  <a:lnTo>
                    <a:pt x="255397" y="283718"/>
                  </a:lnTo>
                  <a:lnTo>
                    <a:pt x="25539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150368" y="1555243"/>
              <a:ext cx="255397" cy="283718"/>
            </a:xfrm>
            <a:custGeom>
              <a:avLst/>
              <a:gdLst/>
              <a:ahLst/>
              <a:cxnLst/>
              <a:rect l="l" t="t" r="r" b="b"/>
              <a:pathLst>
                <a:path w="255397" h="283718">
                  <a:moveTo>
                    <a:pt x="0" y="283718"/>
                  </a:moveTo>
                  <a:lnTo>
                    <a:pt x="255397" y="283718"/>
                  </a:lnTo>
                  <a:lnTo>
                    <a:pt x="25539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2" name="Freeform 32"/>
          <p:cNvSpPr/>
          <p:nvPr/>
        </p:nvSpPr>
        <p:spPr>
          <a:xfrm>
            <a:off x="14895967" y="34922"/>
            <a:ext cx="3228043" cy="1701447"/>
          </a:xfrm>
          <a:custGeom>
            <a:avLst/>
            <a:gdLst/>
            <a:ahLst/>
            <a:cxnLst/>
            <a:rect l="l" t="t" r="r" b="b"/>
            <a:pathLst>
              <a:path w="3228043" h="1701447">
                <a:moveTo>
                  <a:pt x="0" y="0"/>
                </a:moveTo>
                <a:lnTo>
                  <a:pt x="3228042" y="0"/>
                </a:lnTo>
                <a:lnTo>
                  <a:pt x="3228042" y="1701447"/>
                </a:lnTo>
                <a:lnTo>
                  <a:pt x="0" y="170144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686819" y="1838954"/>
            <a:ext cx="2330958" cy="698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1"/>
              </a:lnSpc>
            </a:pPr>
            <a:r>
              <a:rPr lang="en-US" sz="4022" b="1" spc="4">
                <a:solidFill>
                  <a:srgbClr val="000000"/>
                </a:solidFill>
                <a:latin typeface="Code Bold"/>
                <a:ea typeface="Code Bold"/>
                <a:cs typeface="Code Bold"/>
                <a:sym typeface="Code Bold"/>
              </a:rPr>
              <a:t>THE IDEA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1535" y="6187916"/>
            <a:ext cx="6662852" cy="548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3"/>
              </a:lnSpc>
            </a:pPr>
            <a:r>
              <a:rPr lang="en-US" sz="3159" b="1" dirty="0">
                <a:solidFill>
                  <a:srgbClr val="726658"/>
                </a:solidFill>
                <a:latin typeface="Code Bold"/>
                <a:ea typeface="Code Bold"/>
                <a:cs typeface="Code Bold"/>
                <a:sym typeface="Code Bold"/>
              </a:rPr>
              <a:t>UNIQUE FEATURES &amp; INNOVATIONS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11607" y="3401863"/>
            <a:ext cx="3933634" cy="861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0"/>
              </a:lnSpc>
            </a:pPr>
            <a:r>
              <a:rPr lang="en-US" sz="1217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Physical visits → Online portal</a:t>
            </a:r>
          </a:p>
          <a:p>
            <a:pPr algn="ctr">
              <a:lnSpc>
                <a:spcPts val="1650"/>
              </a:lnSpc>
            </a:pPr>
            <a:r>
              <a:rPr lang="en-US" sz="1217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Students apply, upload documents and submit preferences directly from home.</a:t>
            </a:r>
          </a:p>
          <a:p>
            <a:pPr algn="ctr">
              <a:lnSpc>
                <a:spcPts val="1650"/>
              </a:lnSpc>
            </a:pPr>
            <a:endParaRPr lang="en-US" sz="1217">
              <a:solidFill>
                <a:srgbClr val="000000"/>
              </a:solidFill>
              <a:latin typeface="CanvaSansSC-Regular"/>
              <a:ea typeface="CanvaSansSC-Regular"/>
              <a:cs typeface="CanvaSansSC-Regular"/>
              <a:sym typeface="CanvaSansSC-Regular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9025043" y="4230874"/>
            <a:ext cx="3208887" cy="255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VERIFIES &amp; ESTABLISHES PRIORITY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462647" y="4973531"/>
            <a:ext cx="4131031" cy="1024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49"/>
              </a:lnSpc>
            </a:pPr>
            <a:r>
              <a:rPr lang="en-US" sz="1220" dirty="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Self-declared data → Verified need</a:t>
            </a:r>
          </a:p>
          <a:p>
            <a:pPr algn="ctr">
              <a:lnSpc>
                <a:spcPts val="1649"/>
              </a:lnSpc>
            </a:pPr>
            <a:r>
              <a:rPr lang="en-US" sz="1220" dirty="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Address/documents are verified → Routes API calculates distance → priority is generated based on distance and eligibility.</a:t>
            </a:r>
          </a:p>
          <a:p>
            <a:pPr algn="ctr">
              <a:lnSpc>
                <a:spcPts val="1649"/>
              </a:lnSpc>
            </a:pPr>
            <a:endParaRPr lang="en-US" sz="1220" dirty="0">
              <a:solidFill>
                <a:srgbClr val="000000"/>
              </a:solidFill>
              <a:latin typeface="CanvaSansSC-Regular"/>
              <a:ea typeface="CanvaSansSC-Regular"/>
              <a:cs typeface="CanvaSansSC-Regular"/>
              <a:sym typeface="CanvaSansSC-Regular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3473960" y="2752582"/>
            <a:ext cx="2766276" cy="27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OPTIMIZES ROOM ALLOCATION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936236" y="3394272"/>
            <a:ext cx="4312663" cy="106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50"/>
              </a:lnSpc>
            </a:pPr>
            <a:r>
              <a:rPr lang="en-US" sz="1203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First-come-first-served → Need-based matching</a:t>
            </a:r>
          </a:p>
          <a:p>
            <a:pPr algn="ctr">
              <a:lnSpc>
                <a:spcPts val="1650"/>
              </a:lnSpc>
            </a:pPr>
            <a:r>
              <a:rPr lang="en-US" sz="1203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Allocation engine applies eligibility, accessibility, institutional rules and room availability to assign the best available single-bed room.</a:t>
            </a:r>
          </a:p>
          <a:p>
            <a:pPr algn="ctr">
              <a:lnSpc>
                <a:spcPts val="1650"/>
              </a:lnSpc>
            </a:pPr>
            <a:endParaRPr lang="en-US" sz="1203">
              <a:solidFill>
                <a:srgbClr val="000000"/>
              </a:solidFill>
              <a:latin typeface="CanvaSansSC-Regular"/>
              <a:ea typeface="CanvaSansSC-Regular"/>
              <a:cs typeface="CanvaSansSC-Regular"/>
              <a:sym typeface="CanvaSansSC-Regular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3160284" y="4650143"/>
            <a:ext cx="3679916" cy="255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COMPLETES REGISTRATION DIGITALLY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738849" y="5353830"/>
            <a:ext cx="3984175" cy="966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7"/>
              </a:lnSpc>
            </a:pPr>
            <a:r>
              <a:rPr lang="en-US" sz="115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Multiple offices → One platform</a:t>
            </a:r>
          </a:p>
          <a:p>
            <a:pPr algn="ctr">
              <a:lnSpc>
                <a:spcPts val="1567"/>
              </a:lnSpc>
            </a:pPr>
            <a:r>
              <a:rPr lang="en-US" sz="115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Student views allocation → attends counselling if required → pays online → completes registration → receives digital allotment letter</a:t>
            </a:r>
          </a:p>
          <a:p>
            <a:pPr algn="ctr">
              <a:lnSpc>
                <a:spcPts val="1567"/>
              </a:lnSpc>
            </a:pPr>
            <a:endParaRPr lang="en-US" sz="1150">
              <a:solidFill>
                <a:srgbClr val="000000"/>
              </a:solidFill>
              <a:latin typeface="CanvaSansSC-Regular"/>
              <a:ea typeface="CanvaSansSC-Regular"/>
              <a:cs typeface="CanvaSansSC-Regular"/>
              <a:sym typeface="CanvaSansSC-Regular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0619394" y="1854775"/>
            <a:ext cx="7229161" cy="554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8"/>
              </a:lnSpc>
            </a:pPr>
            <a:r>
              <a:rPr lang="en-US" sz="3198" b="1">
                <a:solidFill>
                  <a:srgbClr val="FFFFFF"/>
                </a:solidFill>
                <a:latin typeface="Code Bold"/>
                <a:ea typeface="Code Bold"/>
                <a:cs typeface="Code Bold"/>
                <a:sym typeface="Code Bold"/>
              </a:rPr>
              <a:t>HOW IT ADDRESSES THE CHALLENGE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171852" y="9278414"/>
            <a:ext cx="2308184" cy="700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19"/>
              </a:lnSpc>
            </a:pPr>
            <a:r>
              <a:rPr lang="en-US" sz="129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Smart Room Matching and</a:t>
            </a:r>
          </a:p>
          <a:p>
            <a:pPr algn="just">
              <a:lnSpc>
                <a:spcPts val="1819"/>
              </a:lnSpc>
            </a:pPr>
            <a:r>
              <a:rPr lang="en-US" sz="129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Optimized allocation</a:t>
            </a:r>
          </a:p>
          <a:p>
            <a:pPr algn="just">
              <a:lnSpc>
                <a:spcPts val="1819"/>
              </a:lnSpc>
            </a:pPr>
            <a:endParaRPr lang="en-US" sz="1299" b="1">
              <a:solidFill>
                <a:srgbClr val="FFFFF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295793" y="9579740"/>
            <a:ext cx="60303" cy="298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5"/>
              </a:lnSpc>
            </a:pPr>
            <a:r>
              <a:rPr lang="en-US" sz="167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300447" y="8190252"/>
            <a:ext cx="2592531" cy="700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Zero-Cost System, Serverless, and No Need for DevOps </a:t>
            </a:r>
          </a:p>
          <a:p>
            <a:pPr algn="l">
              <a:lnSpc>
                <a:spcPts val="1819"/>
              </a:lnSpc>
            </a:pPr>
            <a:endParaRPr lang="en-US" sz="1299" b="1">
              <a:solidFill>
                <a:srgbClr val="FFFFF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8329489" y="7103087"/>
            <a:ext cx="2534448" cy="700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Rule-Driven Allocation, without using probabilistic AI</a:t>
            </a:r>
          </a:p>
          <a:p>
            <a:pPr algn="l">
              <a:lnSpc>
                <a:spcPts val="1819"/>
              </a:lnSpc>
            </a:pPr>
            <a:endParaRPr lang="en-US" sz="1299" b="1">
              <a:solidFill>
                <a:srgbClr val="FFFFF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9819884" y="7347566"/>
            <a:ext cx="60303" cy="298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5"/>
              </a:lnSpc>
            </a:pPr>
            <a:r>
              <a:rPr lang="en-US" sz="167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835664" y="9558871"/>
            <a:ext cx="60303" cy="298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5"/>
              </a:lnSpc>
            </a:pPr>
            <a:r>
              <a:rPr lang="en-US" sz="167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749620" y="8095932"/>
            <a:ext cx="2232390" cy="929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Live Admin Dashboard</a:t>
            </a:r>
          </a:p>
          <a:p>
            <a:pPr algn="l">
              <a:lnSpc>
                <a:spcPts val="1819"/>
              </a:lnSpc>
            </a:pPr>
            <a:r>
              <a:rPr lang="en-US" sz="129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Occupancy, vacancies &amp; application insights</a:t>
            </a:r>
          </a:p>
          <a:p>
            <a:pPr algn="l">
              <a:lnSpc>
                <a:spcPts val="1819"/>
              </a:lnSpc>
            </a:pPr>
            <a:endParaRPr lang="en-US" sz="1299" b="1">
              <a:solidFill>
                <a:srgbClr val="FFFFF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4506489" y="8479993"/>
            <a:ext cx="60303" cy="298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5"/>
              </a:lnSpc>
            </a:pPr>
            <a:r>
              <a:rPr lang="en-US" sz="167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845021" y="7207002"/>
            <a:ext cx="2208897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Smart Waitlist Mechanism</a:t>
            </a:r>
          </a:p>
          <a:p>
            <a:pPr algn="l">
              <a:lnSpc>
                <a:spcPts val="1819"/>
              </a:lnSpc>
            </a:pPr>
            <a:endParaRPr lang="en-US" sz="1299" b="1">
              <a:solidFill>
                <a:srgbClr val="FFFFF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3925474" y="7380237"/>
            <a:ext cx="60303" cy="298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5"/>
              </a:lnSpc>
            </a:pPr>
            <a:r>
              <a:rPr lang="en-US" sz="1675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372574" y="8190252"/>
            <a:ext cx="68494" cy="332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4"/>
              </a:lnSpc>
            </a:pPr>
            <a:r>
              <a:rPr lang="en-US" sz="1903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171852" y="8190252"/>
            <a:ext cx="2473520" cy="700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Digital Document submission </a:t>
            </a:r>
          </a:p>
          <a:p>
            <a:pPr algn="l">
              <a:lnSpc>
                <a:spcPts val="1819"/>
              </a:lnSpc>
            </a:pPr>
            <a:r>
              <a:rPr lang="en-US" sz="129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and verification</a:t>
            </a:r>
          </a:p>
          <a:p>
            <a:pPr algn="l">
              <a:lnSpc>
                <a:spcPts val="1819"/>
              </a:lnSpc>
            </a:pPr>
            <a:endParaRPr lang="en-US" sz="1299" b="1">
              <a:solidFill>
                <a:srgbClr val="FFFFF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8379228" y="9207294"/>
            <a:ext cx="2148935" cy="929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Online payment and DD verification after room confirmation</a:t>
            </a:r>
          </a:p>
          <a:p>
            <a:pPr algn="l">
              <a:lnSpc>
                <a:spcPts val="1819"/>
              </a:lnSpc>
            </a:pPr>
            <a:endParaRPr lang="en-US" sz="1299" b="1">
              <a:solidFill>
                <a:srgbClr val="FFFFFF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8852135" y="9590570"/>
            <a:ext cx="60265" cy="298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4"/>
              </a:lnSpc>
            </a:pPr>
            <a:r>
              <a:rPr lang="en-US" sz="167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02538" y="2717778"/>
            <a:ext cx="6850485" cy="324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3"/>
              </a:lnSpc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Hostel allocation is often a first-come-first-served, fragmented and manual process, requiring students to visit the institution for applications, verification, counselling, fee payment and registration.</a:t>
            </a:r>
          </a:p>
          <a:p>
            <a:pPr algn="l">
              <a:lnSpc>
                <a:spcPts val="1983"/>
              </a:lnSpc>
            </a:pPr>
            <a:endParaRPr lang="en-US" sz="17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983"/>
              </a:lnSpc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is especially challenging for students from distant locations, while genuine need, accessibility and room availability are difficult to consider together.</a:t>
            </a:r>
          </a:p>
          <a:p>
            <a:pPr algn="l">
              <a:lnSpc>
                <a:spcPts val="1983"/>
              </a:lnSpc>
            </a:pPr>
            <a:endParaRPr lang="en-US" sz="17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1983"/>
              </a:lnSpc>
            </a:pPr>
            <a:r>
              <a:rPr lang="en-US" sz="1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Hostel 360 brings the complete hostel journey online, enabling students to apply, complete verification, make payments and register from home through a centralized platform.</a:t>
            </a:r>
          </a:p>
          <a:p>
            <a:pPr algn="l">
              <a:lnSpc>
                <a:spcPts val="1983"/>
              </a:lnSpc>
            </a:pPr>
            <a:endParaRPr lang="en-US" sz="17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6367169" y="259975"/>
            <a:ext cx="4496767" cy="1019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8"/>
              </a:lnSpc>
              <a:spcBef>
                <a:spcPct val="0"/>
              </a:spcBef>
            </a:pPr>
            <a:r>
              <a:rPr lang="en-US" sz="5999" b="1">
                <a:solidFill>
                  <a:srgbClr val="3D25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HOSTEL 360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149254" y="7003398"/>
            <a:ext cx="2604041" cy="700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Verified Distance Priority</a:t>
            </a:r>
          </a:p>
          <a:p>
            <a:pPr algn="l">
              <a:lnSpc>
                <a:spcPts val="1819"/>
              </a:lnSpc>
              <a:spcBef>
                <a:spcPct val="0"/>
              </a:spcBef>
            </a:pPr>
            <a:r>
              <a:rPr lang="en-US" sz="129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Hometown-to-campus distance based ranking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112004" y="2752582"/>
            <a:ext cx="2938814" cy="2558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DIGITIZES THE HOSTEL PROCESS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9730" y="3461118"/>
            <a:ext cx="3923509" cy="713508"/>
          </a:xfrm>
          <a:custGeom>
            <a:avLst/>
            <a:gdLst/>
            <a:ahLst/>
            <a:cxnLst/>
            <a:rect l="l" t="t" r="r" b="b"/>
            <a:pathLst>
              <a:path w="3923509" h="713508">
                <a:moveTo>
                  <a:pt x="0" y="0"/>
                </a:moveTo>
                <a:lnTo>
                  <a:pt x="3923509" y="0"/>
                </a:lnTo>
                <a:lnTo>
                  <a:pt x="3923509" y="713509"/>
                </a:lnTo>
                <a:lnTo>
                  <a:pt x="0" y="7135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412109" y="4327027"/>
            <a:ext cx="3923509" cy="713508"/>
          </a:xfrm>
          <a:custGeom>
            <a:avLst/>
            <a:gdLst/>
            <a:ahLst/>
            <a:cxnLst/>
            <a:rect l="l" t="t" r="r" b="b"/>
            <a:pathLst>
              <a:path w="3923509" h="713508">
                <a:moveTo>
                  <a:pt x="0" y="0"/>
                </a:moveTo>
                <a:lnTo>
                  <a:pt x="3923509" y="0"/>
                </a:lnTo>
                <a:lnTo>
                  <a:pt x="3923509" y="713508"/>
                </a:lnTo>
                <a:lnTo>
                  <a:pt x="0" y="7135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412109" y="5189753"/>
            <a:ext cx="3923509" cy="713508"/>
          </a:xfrm>
          <a:custGeom>
            <a:avLst/>
            <a:gdLst/>
            <a:ahLst/>
            <a:cxnLst/>
            <a:rect l="l" t="t" r="r" b="b"/>
            <a:pathLst>
              <a:path w="3923509" h="713508">
                <a:moveTo>
                  <a:pt x="0" y="0"/>
                </a:moveTo>
                <a:lnTo>
                  <a:pt x="3923509" y="0"/>
                </a:lnTo>
                <a:lnTo>
                  <a:pt x="3923509" y="713509"/>
                </a:lnTo>
                <a:lnTo>
                  <a:pt x="0" y="7135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429730" y="2620632"/>
            <a:ext cx="3923509" cy="713508"/>
          </a:xfrm>
          <a:custGeom>
            <a:avLst/>
            <a:gdLst/>
            <a:ahLst/>
            <a:cxnLst/>
            <a:rect l="l" t="t" r="r" b="b"/>
            <a:pathLst>
              <a:path w="3923509" h="713508">
                <a:moveTo>
                  <a:pt x="0" y="0"/>
                </a:moveTo>
                <a:lnTo>
                  <a:pt x="3923509" y="0"/>
                </a:lnTo>
                <a:lnTo>
                  <a:pt x="3923509" y="713509"/>
                </a:lnTo>
                <a:lnTo>
                  <a:pt x="0" y="7135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9730" y="6053033"/>
            <a:ext cx="3923509" cy="713508"/>
          </a:xfrm>
          <a:custGeom>
            <a:avLst/>
            <a:gdLst/>
            <a:ahLst/>
            <a:cxnLst/>
            <a:rect l="l" t="t" r="r" b="b"/>
            <a:pathLst>
              <a:path w="3923509" h="713508">
                <a:moveTo>
                  <a:pt x="0" y="0"/>
                </a:moveTo>
                <a:lnTo>
                  <a:pt x="3923509" y="0"/>
                </a:lnTo>
                <a:lnTo>
                  <a:pt x="3923509" y="713508"/>
                </a:lnTo>
                <a:lnTo>
                  <a:pt x="0" y="7135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429730" y="6906225"/>
            <a:ext cx="3923509" cy="713508"/>
          </a:xfrm>
          <a:custGeom>
            <a:avLst/>
            <a:gdLst/>
            <a:ahLst/>
            <a:cxnLst/>
            <a:rect l="l" t="t" r="r" b="b"/>
            <a:pathLst>
              <a:path w="3923509" h="713508">
                <a:moveTo>
                  <a:pt x="0" y="0"/>
                </a:moveTo>
                <a:lnTo>
                  <a:pt x="3923509" y="0"/>
                </a:lnTo>
                <a:lnTo>
                  <a:pt x="3923509" y="713508"/>
                </a:lnTo>
                <a:lnTo>
                  <a:pt x="0" y="7135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8" name="Group 8"/>
          <p:cNvGrpSpPr/>
          <p:nvPr/>
        </p:nvGrpSpPr>
        <p:grpSpPr>
          <a:xfrm>
            <a:off x="15255616" y="8767963"/>
            <a:ext cx="2717917" cy="1147974"/>
            <a:chOff x="0" y="0"/>
            <a:chExt cx="7497827" cy="316687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497827" cy="3166876"/>
            </a:xfrm>
            <a:custGeom>
              <a:avLst/>
              <a:gdLst/>
              <a:ahLst/>
              <a:cxnLst/>
              <a:rect l="l" t="t" r="r" b="b"/>
              <a:pathLst>
                <a:path w="7497827" h="3166876">
                  <a:moveTo>
                    <a:pt x="0" y="0"/>
                  </a:moveTo>
                  <a:lnTo>
                    <a:pt x="7497827" y="0"/>
                  </a:lnTo>
                  <a:lnTo>
                    <a:pt x="7497827" y="3166876"/>
                  </a:lnTo>
                  <a:lnTo>
                    <a:pt x="0" y="3166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466" b="-466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9259938" y="2174804"/>
            <a:ext cx="6580900" cy="6580900"/>
          </a:xfrm>
          <a:custGeom>
            <a:avLst/>
            <a:gdLst/>
            <a:ahLst/>
            <a:cxnLst/>
            <a:rect l="l" t="t" r="r" b="b"/>
            <a:pathLst>
              <a:path w="6580900" h="6580900">
                <a:moveTo>
                  <a:pt x="0" y="0"/>
                </a:moveTo>
                <a:lnTo>
                  <a:pt x="6580900" y="0"/>
                </a:lnTo>
                <a:lnTo>
                  <a:pt x="6580900" y="6580900"/>
                </a:lnTo>
                <a:lnTo>
                  <a:pt x="0" y="6580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58483" b="-58483"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1059199" y="1516007"/>
            <a:ext cx="676072" cy="676072"/>
            <a:chOff x="0" y="0"/>
            <a:chExt cx="863600" cy="863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3600" cy="863600"/>
            </a:xfrm>
            <a:custGeom>
              <a:avLst/>
              <a:gdLst/>
              <a:ahLst/>
              <a:cxnLst/>
              <a:rect l="l" t="t" r="r" b="b"/>
              <a:pathLst>
                <a:path w="863600" h="863600">
                  <a:moveTo>
                    <a:pt x="0" y="0"/>
                  </a:moveTo>
                  <a:lnTo>
                    <a:pt x="863600" y="0"/>
                  </a:lnTo>
                  <a:lnTo>
                    <a:pt x="863600" y="863600"/>
                  </a:lnTo>
                  <a:lnTo>
                    <a:pt x="0" y="86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5316431" y="2517762"/>
            <a:ext cx="2307555" cy="1380639"/>
          </a:xfrm>
          <a:custGeom>
            <a:avLst/>
            <a:gdLst/>
            <a:ahLst/>
            <a:cxnLst/>
            <a:rect l="l" t="t" r="r" b="b"/>
            <a:pathLst>
              <a:path w="2307555" h="1380639">
                <a:moveTo>
                  <a:pt x="0" y="0"/>
                </a:moveTo>
                <a:lnTo>
                  <a:pt x="2307555" y="0"/>
                </a:lnTo>
                <a:lnTo>
                  <a:pt x="2307555" y="1380640"/>
                </a:lnTo>
                <a:lnTo>
                  <a:pt x="0" y="1380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412109" y="5189753"/>
            <a:ext cx="3923528" cy="713499"/>
            <a:chOff x="0" y="0"/>
            <a:chExt cx="3923525" cy="713499"/>
          </a:xfrm>
        </p:grpSpPr>
        <p:sp>
          <p:nvSpPr>
            <p:cNvPr id="15" name="Freeform 15"/>
            <p:cNvSpPr/>
            <p:nvPr/>
          </p:nvSpPr>
          <p:spPr>
            <a:xfrm>
              <a:off x="63500" y="63500"/>
              <a:ext cx="1500759" cy="586485"/>
            </a:xfrm>
            <a:custGeom>
              <a:avLst/>
              <a:gdLst/>
              <a:ahLst/>
              <a:cxnLst/>
              <a:rect l="l" t="t" r="r" b="b"/>
              <a:pathLst>
                <a:path w="1500759" h="586485">
                  <a:moveTo>
                    <a:pt x="0" y="586485"/>
                  </a:moveTo>
                  <a:lnTo>
                    <a:pt x="1500759" y="586485"/>
                  </a:lnTo>
                  <a:lnTo>
                    <a:pt x="15007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564259" y="63500"/>
              <a:ext cx="2295779" cy="586485"/>
            </a:xfrm>
            <a:custGeom>
              <a:avLst/>
              <a:gdLst/>
              <a:ahLst/>
              <a:cxnLst/>
              <a:rect l="l" t="t" r="r" b="b"/>
              <a:pathLst>
                <a:path w="2295779" h="586485">
                  <a:moveTo>
                    <a:pt x="0" y="586485"/>
                  </a:moveTo>
                  <a:lnTo>
                    <a:pt x="2295779" y="586485"/>
                  </a:lnTo>
                  <a:lnTo>
                    <a:pt x="229577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503215" y="6055662"/>
            <a:ext cx="3923528" cy="713499"/>
            <a:chOff x="0" y="0"/>
            <a:chExt cx="3923525" cy="713499"/>
          </a:xfrm>
        </p:grpSpPr>
        <p:sp>
          <p:nvSpPr>
            <p:cNvPr id="18" name="Freeform 18"/>
            <p:cNvSpPr/>
            <p:nvPr/>
          </p:nvSpPr>
          <p:spPr>
            <a:xfrm>
              <a:off x="63500" y="63500"/>
              <a:ext cx="1500759" cy="586485"/>
            </a:xfrm>
            <a:custGeom>
              <a:avLst/>
              <a:gdLst/>
              <a:ahLst/>
              <a:cxnLst/>
              <a:rect l="l" t="t" r="r" b="b"/>
              <a:pathLst>
                <a:path w="1500759" h="586485">
                  <a:moveTo>
                    <a:pt x="0" y="586485"/>
                  </a:moveTo>
                  <a:lnTo>
                    <a:pt x="1500759" y="586485"/>
                  </a:lnTo>
                  <a:lnTo>
                    <a:pt x="15007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564259" y="63500"/>
              <a:ext cx="2295778" cy="586485"/>
            </a:xfrm>
            <a:custGeom>
              <a:avLst/>
              <a:gdLst/>
              <a:ahLst/>
              <a:cxnLst/>
              <a:rect l="l" t="t" r="r" b="b"/>
              <a:pathLst>
                <a:path w="2295778" h="586485">
                  <a:moveTo>
                    <a:pt x="0" y="586485"/>
                  </a:moveTo>
                  <a:lnTo>
                    <a:pt x="2295778" y="586485"/>
                  </a:lnTo>
                  <a:lnTo>
                    <a:pt x="22957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429730" y="6906235"/>
            <a:ext cx="3923528" cy="713499"/>
            <a:chOff x="0" y="0"/>
            <a:chExt cx="3923525" cy="713499"/>
          </a:xfrm>
        </p:grpSpPr>
        <p:sp>
          <p:nvSpPr>
            <p:cNvPr id="21" name="Freeform 21"/>
            <p:cNvSpPr/>
            <p:nvPr/>
          </p:nvSpPr>
          <p:spPr>
            <a:xfrm>
              <a:off x="63500" y="63500"/>
              <a:ext cx="1500759" cy="586486"/>
            </a:xfrm>
            <a:custGeom>
              <a:avLst/>
              <a:gdLst/>
              <a:ahLst/>
              <a:cxnLst/>
              <a:rect l="l" t="t" r="r" b="b"/>
              <a:pathLst>
                <a:path w="1500759" h="586486">
                  <a:moveTo>
                    <a:pt x="0" y="586485"/>
                  </a:moveTo>
                  <a:lnTo>
                    <a:pt x="1500759" y="586485"/>
                  </a:lnTo>
                  <a:lnTo>
                    <a:pt x="150075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1564259" y="63500"/>
              <a:ext cx="2295778" cy="586486"/>
            </a:xfrm>
            <a:custGeom>
              <a:avLst/>
              <a:gdLst/>
              <a:ahLst/>
              <a:cxnLst/>
              <a:rect l="l" t="t" r="r" b="b"/>
              <a:pathLst>
                <a:path w="2295778" h="586486">
                  <a:moveTo>
                    <a:pt x="0" y="586485"/>
                  </a:moveTo>
                  <a:lnTo>
                    <a:pt x="2295778" y="586485"/>
                  </a:lnTo>
                  <a:lnTo>
                    <a:pt x="22957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11169802" y="2646378"/>
            <a:ext cx="3561663" cy="979457"/>
          </a:xfrm>
          <a:custGeom>
            <a:avLst/>
            <a:gdLst/>
            <a:ahLst/>
            <a:cxnLst/>
            <a:rect l="l" t="t" r="r" b="b"/>
            <a:pathLst>
              <a:path w="3561663" h="979457">
                <a:moveTo>
                  <a:pt x="0" y="0"/>
                </a:moveTo>
                <a:lnTo>
                  <a:pt x="3561663" y="0"/>
                </a:lnTo>
                <a:lnTo>
                  <a:pt x="3561663" y="979457"/>
                </a:lnTo>
                <a:lnTo>
                  <a:pt x="0" y="979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1162316" y="4162596"/>
            <a:ext cx="4061715" cy="1115125"/>
          </a:xfrm>
          <a:custGeom>
            <a:avLst/>
            <a:gdLst/>
            <a:ahLst/>
            <a:cxnLst/>
            <a:rect l="l" t="t" r="r" b="b"/>
            <a:pathLst>
              <a:path w="4061715" h="1115125">
                <a:moveTo>
                  <a:pt x="0" y="0"/>
                </a:moveTo>
                <a:lnTo>
                  <a:pt x="4061715" y="0"/>
                </a:lnTo>
                <a:lnTo>
                  <a:pt x="4061715" y="1115126"/>
                </a:lnTo>
                <a:lnTo>
                  <a:pt x="0" y="11151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1177556" y="5628580"/>
            <a:ext cx="3864554" cy="1060996"/>
          </a:xfrm>
          <a:custGeom>
            <a:avLst/>
            <a:gdLst/>
            <a:ahLst/>
            <a:cxnLst/>
            <a:rect l="l" t="t" r="r" b="b"/>
            <a:pathLst>
              <a:path w="3864554" h="1060996">
                <a:moveTo>
                  <a:pt x="0" y="0"/>
                </a:moveTo>
                <a:lnTo>
                  <a:pt x="3864554" y="0"/>
                </a:lnTo>
                <a:lnTo>
                  <a:pt x="3864554" y="1060996"/>
                </a:lnTo>
                <a:lnTo>
                  <a:pt x="0" y="1060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1162316" y="7175351"/>
            <a:ext cx="3852276" cy="1057625"/>
          </a:xfrm>
          <a:custGeom>
            <a:avLst/>
            <a:gdLst/>
            <a:ahLst/>
            <a:cxnLst/>
            <a:rect l="l" t="t" r="r" b="b"/>
            <a:pathLst>
              <a:path w="3852276" h="1057625">
                <a:moveTo>
                  <a:pt x="0" y="0"/>
                </a:moveTo>
                <a:lnTo>
                  <a:pt x="3852276" y="0"/>
                </a:lnTo>
                <a:lnTo>
                  <a:pt x="3852276" y="1057624"/>
                </a:lnTo>
                <a:lnTo>
                  <a:pt x="0" y="10576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7963481" y="2597196"/>
            <a:ext cx="2024475" cy="1211269"/>
          </a:xfrm>
          <a:custGeom>
            <a:avLst/>
            <a:gdLst/>
            <a:ahLst/>
            <a:cxnLst/>
            <a:rect l="l" t="t" r="r" b="b"/>
            <a:pathLst>
              <a:path w="2024475" h="1211269">
                <a:moveTo>
                  <a:pt x="0" y="0"/>
                </a:moveTo>
                <a:lnTo>
                  <a:pt x="2024475" y="0"/>
                </a:lnTo>
                <a:lnTo>
                  <a:pt x="2024475" y="1211269"/>
                </a:lnTo>
                <a:lnTo>
                  <a:pt x="0" y="12112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6418871" y="5805710"/>
            <a:ext cx="1797926" cy="1075722"/>
          </a:xfrm>
          <a:custGeom>
            <a:avLst/>
            <a:gdLst/>
            <a:ahLst/>
            <a:cxnLst/>
            <a:rect l="l" t="t" r="r" b="b"/>
            <a:pathLst>
              <a:path w="1797926" h="1075722">
                <a:moveTo>
                  <a:pt x="0" y="0"/>
                </a:moveTo>
                <a:lnTo>
                  <a:pt x="1797926" y="0"/>
                </a:lnTo>
                <a:lnTo>
                  <a:pt x="1797926" y="1075722"/>
                </a:lnTo>
                <a:lnTo>
                  <a:pt x="0" y="10757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6418871" y="7218715"/>
            <a:ext cx="1797926" cy="1075722"/>
          </a:xfrm>
          <a:custGeom>
            <a:avLst/>
            <a:gdLst/>
            <a:ahLst/>
            <a:cxnLst/>
            <a:rect l="l" t="t" r="r" b="b"/>
            <a:pathLst>
              <a:path w="1797926" h="1075722">
                <a:moveTo>
                  <a:pt x="0" y="0"/>
                </a:moveTo>
                <a:lnTo>
                  <a:pt x="1797926" y="0"/>
                </a:lnTo>
                <a:lnTo>
                  <a:pt x="1797926" y="1075722"/>
                </a:lnTo>
                <a:lnTo>
                  <a:pt x="0" y="10757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4807744" y="4414691"/>
            <a:ext cx="5381845" cy="3412975"/>
            <a:chOff x="0" y="0"/>
            <a:chExt cx="1240886" cy="78692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40886" cy="786926"/>
            </a:xfrm>
            <a:custGeom>
              <a:avLst/>
              <a:gdLst/>
              <a:ahLst/>
              <a:cxnLst/>
              <a:rect l="l" t="t" r="r" b="b"/>
              <a:pathLst>
                <a:path w="1240886" h="786926">
                  <a:moveTo>
                    <a:pt x="0" y="0"/>
                  </a:moveTo>
                  <a:lnTo>
                    <a:pt x="1240886" y="0"/>
                  </a:lnTo>
                  <a:lnTo>
                    <a:pt x="1240886" y="786926"/>
                  </a:lnTo>
                  <a:lnTo>
                    <a:pt x="0" y="786926"/>
                  </a:lnTo>
                  <a:close/>
                </a:path>
              </a:pathLst>
            </a:custGeom>
            <a:blipFill>
              <a:blip r:embed="rId13"/>
              <a:stretch>
                <a:fillRect l="-330" r="-330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8681961" y="8717604"/>
            <a:ext cx="23098" cy="152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8"/>
              </a:lnSpc>
            </a:pPr>
            <a:r>
              <a:rPr lang="en-US" sz="727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 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534468" y="8426113"/>
            <a:ext cx="6199220" cy="1477600"/>
            <a:chOff x="0" y="0"/>
            <a:chExt cx="3410075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410075" cy="812800"/>
            </a:xfrm>
            <a:custGeom>
              <a:avLst/>
              <a:gdLst/>
              <a:ahLst/>
              <a:cxnLst/>
              <a:rect l="l" t="t" r="r" b="b"/>
              <a:pathLst>
                <a:path w="3410075" h="812800">
                  <a:moveTo>
                    <a:pt x="0" y="0"/>
                  </a:moveTo>
                  <a:lnTo>
                    <a:pt x="3410075" y="0"/>
                  </a:lnTo>
                  <a:lnTo>
                    <a:pt x="3410075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4"/>
              <a:stretch>
                <a:fillRect t="-83" b="-83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35" name="Freeform 35"/>
          <p:cNvSpPr/>
          <p:nvPr/>
        </p:nvSpPr>
        <p:spPr>
          <a:xfrm>
            <a:off x="16418871" y="4052886"/>
            <a:ext cx="1739392" cy="1040700"/>
          </a:xfrm>
          <a:custGeom>
            <a:avLst/>
            <a:gdLst/>
            <a:ahLst/>
            <a:cxnLst/>
            <a:rect l="l" t="t" r="r" b="b"/>
            <a:pathLst>
              <a:path w="1739392" h="1040700">
                <a:moveTo>
                  <a:pt x="0" y="0"/>
                </a:moveTo>
                <a:lnTo>
                  <a:pt x="1739392" y="0"/>
                </a:lnTo>
                <a:lnTo>
                  <a:pt x="1739392" y="1040700"/>
                </a:lnTo>
                <a:lnTo>
                  <a:pt x="0" y="10407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7536613" y="3198294"/>
            <a:ext cx="530020" cy="288714"/>
          </a:xfrm>
          <a:custGeom>
            <a:avLst/>
            <a:gdLst/>
            <a:ahLst/>
            <a:cxnLst/>
            <a:rect l="l" t="t" r="r" b="b"/>
            <a:pathLst>
              <a:path w="578072" h="271694">
                <a:moveTo>
                  <a:pt x="0" y="0"/>
                </a:moveTo>
                <a:lnTo>
                  <a:pt x="578072" y="0"/>
                </a:lnTo>
                <a:lnTo>
                  <a:pt x="578072" y="271693"/>
                </a:lnTo>
                <a:lnTo>
                  <a:pt x="0" y="271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9884804" y="3136106"/>
            <a:ext cx="1037599" cy="444415"/>
          </a:xfrm>
          <a:custGeom>
            <a:avLst/>
            <a:gdLst/>
            <a:ahLst/>
            <a:cxnLst/>
            <a:rect l="l" t="t" r="r" b="b"/>
            <a:pathLst>
              <a:path w="916933" h="430959">
                <a:moveTo>
                  <a:pt x="0" y="0"/>
                </a:moveTo>
                <a:lnTo>
                  <a:pt x="916933" y="0"/>
                </a:lnTo>
                <a:lnTo>
                  <a:pt x="916933" y="430959"/>
                </a:lnTo>
                <a:lnTo>
                  <a:pt x="0" y="4309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 rot="-5400000">
            <a:off x="16791886" y="5266145"/>
            <a:ext cx="851361" cy="400140"/>
          </a:xfrm>
          <a:custGeom>
            <a:avLst/>
            <a:gdLst/>
            <a:ahLst/>
            <a:cxnLst/>
            <a:rect l="l" t="t" r="r" b="b"/>
            <a:pathLst>
              <a:path w="851361" h="400140">
                <a:moveTo>
                  <a:pt x="0" y="0"/>
                </a:moveTo>
                <a:lnTo>
                  <a:pt x="851361" y="0"/>
                </a:lnTo>
                <a:lnTo>
                  <a:pt x="851361" y="400140"/>
                </a:lnTo>
                <a:lnTo>
                  <a:pt x="0" y="400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5729259" y="7531682"/>
            <a:ext cx="733963" cy="344963"/>
          </a:xfrm>
          <a:custGeom>
            <a:avLst/>
            <a:gdLst/>
            <a:ahLst/>
            <a:cxnLst/>
            <a:rect l="l" t="t" r="r" b="b"/>
            <a:pathLst>
              <a:path w="733963" h="344963">
                <a:moveTo>
                  <a:pt x="0" y="0"/>
                </a:moveTo>
                <a:lnTo>
                  <a:pt x="733964" y="0"/>
                </a:lnTo>
                <a:lnTo>
                  <a:pt x="733964" y="344962"/>
                </a:lnTo>
                <a:lnTo>
                  <a:pt x="0" y="3449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 rot="-5400000">
            <a:off x="17039539" y="6939931"/>
            <a:ext cx="439522" cy="206575"/>
          </a:xfrm>
          <a:custGeom>
            <a:avLst/>
            <a:gdLst/>
            <a:ahLst/>
            <a:cxnLst/>
            <a:rect l="l" t="t" r="r" b="b"/>
            <a:pathLst>
              <a:path w="439522" h="206575">
                <a:moveTo>
                  <a:pt x="0" y="0"/>
                </a:moveTo>
                <a:lnTo>
                  <a:pt x="439522" y="0"/>
                </a:lnTo>
                <a:lnTo>
                  <a:pt x="439522" y="206575"/>
                </a:lnTo>
                <a:lnTo>
                  <a:pt x="0" y="2065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41" name="Group 41"/>
          <p:cNvGrpSpPr/>
          <p:nvPr/>
        </p:nvGrpSpPr>
        <p:grpSpPr>
          <a:xfrm>
            <a:off x="329136" y="8073377"/>
            <a:ext cx="5141936" cy="1811286"/>
            <a:chOff x="0" y="0"/>
            <a:chExt cx="2307402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307402" cy="812800"/>
            </a:xfrm>
            <a:custGeom>
              <a:avLst/>
              <a:gdLst/>
              <a:ahLst/>
              <a:cxnLst/>
              <a:rect l="l" t="t" r="r" b="b"/>
              <a:pathLst>
                <a:path w="2307402" h="812800">
                  <a:moveTo>
                    <a:pt x="0" y="0"/>
                  </a:moveTo>
                  <a:lnTo>
                    <a:pt x="2307402" y="0"/>
                  </a:lnTo>
                  <a:lnTo>
                    <a:pt x="2307402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16"/>
              <a:stretch>
                <a:fillRect l="-870" t="-73835" r="-870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43" name="Freeform 43"/>
          <p:cNvSpPr/>
          <p:nvPr/>
        </p:nvSpPr>
        <p:spPr>
          <a:xfrm>
            <a:off x="14959737" y="68507"/>
            <a:ext cx="3119616" cy="1644297"/>
          </a:xfrm>
          <a:custGeom>
            <a:avLst/>
            <a:gdLst/>
            <a:ahLst/>
            <a:cxnLst/>
            <a:rect l="l" t="t" r="r" b="b"/>
            <a:pathLst>
              <a:path w="3119616" h="1644297">
                <a:moveTo>
                  <a:pt x="0" y="0"/>
                </a:moveTo>
                <a:lnTo>
                  <a:pt x="3119615" y="0"/>
                </a:lnTo>
                <a:lnTo>
                  <a:pt x="3119615" y="1644298"/>
                </a:lnTo>
                <a:lnTo>
                  <a:pt x="0" y="164429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9046340" y="7572051"/>
            <a:ext cx="23098" cy="152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8"/>
              </a:lnSpc>
            </a:pPr>
            <a:r>
              <a:rPr lang="en-US" sz="727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407951" y="7579031"/>
            <a:ext cx="2783758" cy="441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00" spc="56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Preference 1 (if available) -&gt; Preference 2 (if available) -&gt; Official Waitlist (if both preferences are unavailable)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898336" y="433340"/>
            <a:ext cx="8516615" cy="1019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8"/>
              </a:lnSpc>
              <a:spcBef>
                <a:spcPct val="0"/>
              </a:spcBef>
            </a:pPr>
            <a:r>
              <a:rPr lang="en-US" sz="5999" b="1" u="none" strike="noStrike">
                <a:solidFill>
                  <a:srgbClr val="3D25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TECHNICAL APPROACH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02036" y="6154553"/>
            <a:ext cx="1288694" cy="462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ECEFF1"/>
                </a:solidFill>
                <a:latin typeface="Poppins"/>
                <a:ea typeface="Poppins"/>
                <a:cs typeface="Poppins"/>
                <a:sym typeface="Poppins"/>
              </a:rPr>
              <a:t>Distance Calculation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2924" y="3638687"/>
            <a:ext cx="1246918" cy="25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ECEFF1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44695" y="2830629"/>
            <a:ext cx="895393" cy="2426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dirty="0">
                <a:solidFill>
                  <a:srgbClr val="ECEFF1"/>
                </a:solidFill>
                <a:latin typeface="Poppins"/>
                <a:ea typeface="Poppins"/>
                <a:cs typeface="Poppins"/>
                <a:sym typeface="Poppins"/>
              </a:rPr>
              <a:t>Frontend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334825" y="7054317"/>
            <a:ext cx="1890827" cy="431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73"/>
              </a:lnSpc>
            </a:pPr>
            <a:r>
              <a:rPr lang="en-US" sz="999" spc="1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Apps Script Web App</a:t>
            </a:r>
          </a:p>
          <a:p>
            <a:pPr algn="just">
              <a:lnSpc>
                <a:spcPts val="1173"/>
              </a:lnSpc>
            </a:pPr>
            <a:r>
              <a:rPr lang="en-US" sz="999" spc="1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-&gt; Serverless • Low-Cost • Easy Deployment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22924" y="4554876"/>
            <a:ext cx="977276" cy="2447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dirty="0">
                <a:solidFill>
                  <a:srgbClr val="ECEFF1"/>
                </a:solidFill>
                <a:latin typeface="Poppins"/>
                <a:ea typeface="Poppins"/>
                <a:cs typeface="Poppins"/>
                <a:sym typeface="Poppins"/>
              </a:rPr>
              <a:t>Database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98476" y="5293066"/>
            <a:ext cx="1704394" cy="43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5"/>
              </a:lnSpc>
            </a:pPr>
            <a:r>
              <a:rPr lang="en-US" sz="1299" dirty="0">
                <a:solidFill>
                  <a:srgbClr val="ECEFF1"/>
                </a:solidFill>
                <a:latin typeface="Poppins"/>
                <a:ea typeface="Poppins"/>
                <a:cs typeface="Poppins"/>
                <a:sym typeface="Poppins"/>
              </a:rPr>
              <a:t>Document Management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334825" y="6193823"/>
            <a:ext cx="1930670" cy="431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3"/>
              </a:lnSpc>
            </a:pPr>
            <a:r>
              <a:rPr lang="en-US" sz="9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Google Routes API</a:t>
            </a:r>
          </a:p>
          <a:p>
            <a:pPr algn="l">
              <a:lnSpc>
                <a:spcPts val="1173"/>
              </a:lnSpc>
            </a:pPr>
            <a:r>
              <a:rPr lang="en-US" sz="9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-&gt; Precise Real-World distance calculation from the Institute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5729259" y="8967988"/>
            <a:ext cx="1288237" cy="250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8"/>
              </a:lnSpc>
            </a:pPr>
            <a:r>
              <a:rPr lang="en-US" sz="142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Prototype link: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29136" y="1926126"/>
            <a:ext cx="2602026" cy="63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1">
                <a:solidFill>
                  <a:srgbClr val="000000"/>
                </a:solidFill>
                <a:latin typeface="Code Bold"/>
                <a:ea typeface="Code Bold"/>
                <a:cs typeface="Code Bold"/>
                <a:sym typeface="Code Bold"/>
              </a:rPr>
              <a:t>TECH STACK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555372" y="1728993"/>
            <a:ext cx="3613507" cy="378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8"/>
              </a:lnSpc>
            </a:pPr>
            <a:r>
              <a:rPr lang="en-US" sz="2199" b="1" dirty="0">
                <a:solidFill>
                  <a:srgbClr val="3D1700"/>
                </a:solidFill>
                <a:latin typeface="Code Bold"/>
                <a:ea typeface="Code Bold"/>
                <a:cs typeface="Code Bold"/>
                <a:sym typeface="Code Bold"/>
              </a:rPr>
              <a:t> ALLOCATION ENGINE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405845" y="3087491"/>
            <a:ext cx="2482456" cy="345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3"/>
              </a:lnSpc>
            </a:pPr>
            <a:r>
              <a:rPr lang="en-US" sz="1000" spc="10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1. Single-room Occupancy</a:t>
            </a:r>
          </a:p>
          <a:p>
            <a:pPr algn="l">
              <a:lnSpc>
                <a:spcPts val="1333"/>
              </a:lnSpc>
            </a:pPr>
            <a:r>
              <a:rPr lang="en-US" sz="1000" spc="10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2. Gender Partition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397235" y="2762900"/>
            <a:ext cx="2183946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dirty="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Initial Hard Constraints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1405845" y="4145070"/>
            <a:ext cx="2302318" cy="304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6"/>
              </a:lnSpc>
            </a:pPr>
            <a:r>
              <a:rPr lang="en-US" sz="140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6-tier Priority Hierarchy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407951" y="7213130"/>
            <a:ext cx="2007000" cy="226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dirty="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Preference Engine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574316" y="4454572"/>
            <a:ext cx="2768142" cy="691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4"/>
              </a:lnSpc>
            </a:pPr>
            <a:r>
              <a:rPr lang="en-US" sz="708" spc="34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1. PwD / Specially-abled students</a:t>
            </a:r>
          </a:p>
          <a:p>
            <a:pPr algn="l">
              <a:lnSpc>
                <a:spcPts val="944"/>
              </a:lnSpc>
            </a:pPr>
            <a:r>
              <a:rPr lang="en-US" sz="708" spc="34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2. Outside Delhi Residents</a:t>
            </a:r>
          </a:p>
          <a:p>
            <a:pPr algn="l">
              <a:lnSpc>
                <a:spcPts val="944"/>
              </a:lnSpc>
            </a:pPr>
            <a:r>
              <a:rPr lang="en-US" sz="708" spc="34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3. Delhi Outstation Residents</a:t>
            </a:r>
          </a:p>
          <a:p>
            <a:pPr algn="l">
              <a:lnSpc>
                <a:spcPts val="944"/>
              </a:lnSpc>
            </a:pPr>
            <a:r>
              <a:rPr lang="en-US" sz="708" spc="34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4. Exempted Residents (parents posted outside Delhi)</a:t>
            </a:r>
          </a:p>
          <a:p>
            <a:pPr algn="l">
              <a:lnSpc>
                <a:spcPts val="944"/>
              </a:lnSpc>
            </a:pPr>
            <a:r>
              <a:rPr lang="en-US" sz="708" spc="34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5. Local Delhi-NCR Residents</a:t>
            </a:r>
          </a:p>
          <a:p>
            <a:pPr algn="l">
              <a:lnSpc>
                <a:spcPts val="944"/>
              </a:lnSpc>
            </a:pPr>
            <a:r>
              <a:rPr lang="en-US" sz="708" spc="34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6. General and Late Applicants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405845" y="6024458"/>
            <a:ext cx="2785865" cy="465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lang="en-US" sz="950" spc="67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General (40.5%), OBC (27%), SC (15%), ST (7.5%), EWS (10%), PwD (5%), Foreign (5%)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399567" y="5675235"/>
            <a:ext cx="3331898" cy="285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Category Quotas for reserved seats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094388" y="4078176"/>
            <a:ext cx="28432" cy="184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2"/>
              </a:lnSpc>
            </a:pPr>
            <a:r>
              <a:rPr lang="en-US" sz="930">
                <a:solidFill>
                  <a:srgbClr val="124127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 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669261" y="5217233"/>
            <a:ext cx="28708" cy="160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2"/>
              </a:lnSpc>
            </a:pPr>
            <a:r>
              <a:rPr lang="en-US" sz="8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582846" y="2636708"/>
            <a:ext cx="1718890" cy="340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7"/>
              </a:lnSpc>
            </a:pPr>
            <a:r>
              <a:rPr lang="en-US" sz="1962" b="1">
                <a:solidFill>
                  <a:srgbClr val="FFFFFF"/>
                </a:solidFill>
                <a:latin typeface="Code Bold"/>
                <a:ea typeface="Code Bold"/>
                <a:cs typeface="Code Bold"/>
                <a:sym typeface="Code Bold"/>
              </a:rPr>
              <a:t>STUDENT INPUT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442291" y="3258941"/>
            <a:ext cx="27918" cy="156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0"/>
              </a:lnSpc>
            </a:pPr>
            <a:r>
              <a:rPr lang="en-US" sz="80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5697969" y="1832021"/>
            <a:ext cx="2635760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Code Bold"/>
                <a:ea typeface="Code Bold"/>
                <a:cs typeface="Code Bold"/>
                <a:sym typeface="Code Bold"/>
              </a:rPr>
              <a:t>WORKFLOW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2334825" y="2714489"/>
            <a:ext cx="2114196" cy="54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73"/>
              </a:lnSpc>
            </a:pPr>
            <a:r>
              <a:rPr lang="en-US" sz="1052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HTML • CSS • JavaScript</a:t>
            </a:r>
          </a:p>
          <a:p>
            <a:pPr algn="l">
              <a:lnSpc>
                <a:spcPts val="1473"/>
              </a:lnSpc>
            </a:pPr>
            <a:r>
              <a:rPr lang="en-US" sz="1052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-&gt; Student &amp; Admin </a:t>
            </a:r>
          </a:p>
          <a:p>
            <a:pPr algn="l">
              <a:lnSpc>
                <a:spcPts val="1473"/>
              </a:lnSpc>
              <a:spcBef>
                <a:spcPct val="0"/>
              </a:spcBef>
            </a:pPr>
            <a:r>
              <a:rPr lang="en-US" sz="1052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     Web Portal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2334825" y="3535470"/>
            <a:ext cx="2071642" cy="51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lang="en-US" sz="1004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Google Apps Script V8</a:t>
            </a:r>
          </a:p>
          <a:p>
            <a:pPr algn="l">
              <a:lnSpc>
                <a:spcPts val="1406"/>
              </a:lnSpc>
              <a:spcBef>
                <a:spcPct val="0"/>
              </a:spcBef>
            </a:pPr>
            <a:r>
              <a:rPr lang="en-US" sz="1004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-&gt; Business Logic • Verification • Allocation Engine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2271396" y="5297710"/>
            <a:ext cx="2081843" cy="50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Google Drive + Google Docs</a:t>
            </a:r>
          </a:p>
          <a:p>
            <a:pPr algn="l">
              <a:lnSpc>
                <a:spcPts val="1399"/>
              </a:lnSpc>
              <a:spcBef>
                <a:spcPct val="0"/>
              </a:spcBef>
            </a:pPr>
            <a:r>
              <a:rPr lang="en-US" sz="999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-&gt; Documents • Allotment Letters • Audit Reports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80704" y="7102535"/>
            <a:ext cx="1314315" cy="23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Deployment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413785" y="3011361"/>
            <a:ext cx="1783333" cy="770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35"/>
              </a:lnSpc>
            </a:pPr>
            <a:endParaRPr/>
          </a:p>
          <a:p>
            <a:pPr marL="159623" lvl="1" indent="-79812" algn="just">
              <a:lnSpc>
                <a:spcPts val="1035"/>
              </a:lnSpc>
              <a:buAutoNum type="arabicPeriod"/>
            </a:pPr>
            <a:r>
              <a:rPr lang="en-US" sz="73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Hostel application</a:t>
            </a:r>
          </a:p>
          <a:p>
            <a:pPr marL="159623" lvl="1" indent="-79812" algn="just">
              <a:lnSpc>
                <a:spcPts val="1035"/>
              </a:lnSpc>
              <a:buAutoNum type="arabicPeriod"/>
            </a:pPr>
            <a:r>
              <a:rPr lang="en-US" sz="73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Hometown/address</a:t>
            </a:r>
          </a:p>
          <a:p>
            <a:pPr marL="159623" lvl="1" indent="-79812" algn="just">
              <a:lnSpc>
                <a:spcPts val="1035"/>
              </a:lnSpc>
              <a:buAutoNum type="arabicPeriod"/>
            </a:pPr>
            <a:r>
              <a:rPr lang="en-US" sz="73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Preferences &amp; accessibility requirements</a:t>
            </a:r>
          </a:p>
          <a:p>
            <a:pPr marL="159623" lvl="1" indent="-79812" algn="just">
              <a:lnSpc>
                <a:spcPts val="1035"/>
              </a:lnSpc>
              <a:buAutoNum type="arabicPeriod"/>
            </a:pPr>
            <a:r>
              <a:rPr lang="en-US" sz="73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Valid Documents upload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373863" y="4573926"/>
            <a:ext cx="1409587" cy="19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0000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Google SpreadSheets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5295792" y="9220200"/>
            <a:ext cx="2735313" cy="401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3"/>
              </a:lnSpc>
              <a:spcBef>
                <a:spcPct val="0"/>
              </a:spcBef>
            </a:pPr>
            <a:r>
              <a:rPr lang="en-US" sz="75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https://script.google.com/macros/s/AKfycbz2gqdNf-fevMecr7wx91fgggoFDJ3otrjxAo57F2X6i0Wqd7iMIPoB2tkB3VPTtgJtzw/exec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884813" y="2773635"/>
            <a:ext cx="2103143" cy="200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  <a:spcBef>
                <a:spcPct val="0"/>
              </a:spcBef>
            </a:pPr>
            <a:r>
              <a:rPr lang="en-US" sz="1100" b="1">
                <a:solidFill>
                  <a:srgbClr val="E9F4F6"/>
                </a:solidFill>
                <a:latin typeface="Code Bold"/>
                <a:ea typeface="Code Bold"/>
                <a:cs typeface="Code Bold"/>
                <a:sym typeface="Code Bold"/>
              </a:rPr>
              <a:t>Document Verification</a:t>
            </a:r>
            <a:r>
              <a:rPr lang="en-US" sz="1100">
                <a:solidFill>
                  <a:srgbClr val="E9F4F6"/>
                </a:solidFill>
                <a:latin typeface="Code"/>
                <a:ea typeface="Code"/>
                <a:cs typeface="Code"/>
                <a:sym typeface="Code"/>
              </a:rPr>
              <a:t> 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6556316" y="7321856"/>
            <a:ext cx="1523036" cy="23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9"/>
              </a:lnSpc>
              <a:spcBef>
                <a:spcPct val="0"/>
              </a:spcBef>
            </a:pPr>
            <a:r>
              <a:rPr lang="en-US" sz="1299" b="1">
                <a:solidFill>
                  <a:srgbClr val="E9F4F6"/>
                </a:solidFill>
                <a:latin typeface="Code Bold"/>
                <a:ea typeface="Code Bold"/>
                <a:cs typeface="Code Bold"/>
                <a:sym typeface="Code Bold"/>
              </a:rPr>
              <a:t>Draft Allocation</a:t>
            </a:r>
            <a:r>
              <a:rPr lang="en-US" sz="1299">
                <a:solidFill>
                  <a:srgbClr val="E9F4F6"/>
                </a:solidFill>
                <a:latin typeface="Code"/>
                <a:ea typeface="Code"/>
                <a:cs typeface="Code"/>
                <a:sym typeface="Code"/>
              </a:rPr>
              <a:t> 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6491121" y="5914103"/>
            <a:ext cx="1742933" cy="240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 dirty="0">
                <a:solidFill>
                  <a:srgbClr val="E9F4F6"/>
                </a:solidFill>
                <a:latin typeface="Code Bold"/>
                <a:ea typeface="Code Bold"/>
                <a:cs typeface="Code Bold"/>
                <a:sym typeface="Code Bold"/>
              </a:rPr>
              <a:t>Admin validates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8161883" y="3148923"/>
            <a:ext cx="1627671" cy="288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Digital verification of </a:t>
            </a:r>
          </a:p>
          <a:p>
            <a:pPr algn="ctr">
              <a:lnSpc>
                <a:spcPts val="1120"/>
              </a:lnSpc>
              <a:spcBef>
                <a:spcPct val="0"/>
              </a:spcBef>
            </a:pPr>
            <a:r>
              <a:rPr lang="en-US" sz="80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documents through Warden side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6563351" y="6305471"/>
            <a:ext cx="1516001" cy="330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 dirty="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Admin validates the</a:t>
            </a:r>
          </a:p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 dirty="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 </a:t>
            </a:r>
            <a:r>
              <a:rPr lang="en-US" sz="999" dirty="0" err="1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alloted</a:t>
            </a:r>
            <a:r>
              <a:rPr lang="en-US" sz="999" dirty="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 hostel 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6663449" y="4114971"/>
            <a:ext cx="1322501" cy="299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b="1" dirty="0">
                <a:solidFill>
                  <a:srgbClr val="E9F4F6"/>
                </a:solidFill>
                <a:latin typeface="Code Bold"/>
                <a:ea typeface="Code Bold"/>
                <a:cs typeface="Code Bold"/>
                <a:sym typeface="Code Bold"/>
              </a:rPr>
              <a:t>Published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6556316" y="4509791"/>
            <a:ext cx="1322501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Email is sent to the </a:t>
            </a:r>
          </a:p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student and the alloted</a:t>
            </a:r>
          </a:p>
          <a:p>
            <a:pPr algn="ctr">
              <a:lnSpc>
                <a:spcPts val="1260"/>
              </a:lnSpc>
              <a:spcBef>
                <a:spcPct val="0"/>
              </a:spcBef>
            </a:pPr>
            <a:r>
              <a:rPr lang="en-US" sz="900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 hostel is published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6738742" y="7718476"/>
            <a:ext cx="1041117" cy="35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The draft is sent </a:t>
            </a:r>
          </a:p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to the Warden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62045" y="85649"/>
            <a:ext cx="3313652" cy="1684306"/>
            <a:chOff x="0" y="0"/>
            <a:chExt cx="4418203" cy="22457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18203" cy="2245741"/>
            </a:xfrm>
            <a:custGeom>
              <a:avLst/>
              <a:gdLst/>
              <a:ahLst/>
              <a:cxnLst/>
              <a:rect l="l" t="t" r="r" b="b"/>
              <a:pathLst>
                <a:path w="4418203" h="2245741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867" b="-186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799262" y="7619495"/>
            <a:ext cx="6682540" cy="1702308"/>
          </a:xfrm>
          <a:custGeom>
            <a:avLst/>
            <a:gdLst/>
            <a:ahLst/>
            <a:cxnLst/>
            <a:rect l="l" t="t" r="r" b="b"/>
            <a:pathLst>
              <a:path w="6682540" h="1702308">
                <a:moveTo>
                  <a:pt x="0" y="0"/>
                </a:moveTo>
                <a:lnTo>
                  <a:pt x="6682540" y="0"/>
                </a:lnTo>
                <a:lnTo>
                  <a:pt x="6682540" y="1702308"/>
                </a:lnTo>
                <a:lnTo>
                  <a:pt x="0" y="17023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43553" y="3234299"/>
            <a:ext cx="6682540" cy="1702308"/>
          </a:xfrm>
          <a:custGeom>
            <a:avLst/>
            <a:gdLst/>
            <a:ahLst/>
            <a:cxnLst/>
            <a:rect l="l" t="t" r="r" b="b"/>
            <a:pathLst>
              <a:path w="6682540" h="1702308">
                <a:moveTo>
                  <a:pt x="0" y="0"/>
                </a:moveTo>
                <a:lnTo>
                  <a:pt x="6682540" y="0"/>
                </a:lnTo>
                <a:lnTo>
                  <a:pt x="6682540" y="1702308"/>
                </a:lnTo>
                <a:lnTo>
                  <a:pt x="0" y="17023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43553" y="5396722"/>
            <a:ext cx="6682540" cy="1702308"/>
          </a:xfrm>
          <a:custGeom>
            <a:avLst/>
            <a:gdLst/>
            <a:ahLst/>
            <a:cxnLst/>
            <a:rect l="l" t="t" r="r" b="b"/>
            <a:pathLst>
              <a:path w="6682540" h="1702308">
                <a:moveTo>
                  <a:pt x="0" y="0"/>
                </a:moveTo>
                <a:lnTo>
                  <a:pt x="6682540" y="0"/>
                </a:lnTo>
                <a:lnTo>
                  <a:pt x="6682540" y="1702308"/>
                </a:lnTo>
                <a:lnTo>
                  <a:pt x="0" y="17023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47329" y="2754401"/>
            <a:ext cx="1028700" cy="1219200"/>
            <a:chOff x="0" y="0"/>
            <a:chExt cx="1371600" cy="1625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71600" cy="1625600"/>
            </a:xfrm>
            <a:custGeom>
              <a:avLst/>
              <a:gdLst/>
              <a:ahLst/>
              <a:cxnLst/>
              <a:rect l="l" t="t" r="r" b="b"/>
              <a:pathLst>
                <a:path w="1371600" h="1625600">
                  <a:moveTo>
                    <a:pt x="0" y="0"/>
                  </a:moveTo>
                  <a:lnTo>
                    <a:pt x="1371600" y="0"/>
                  </a:lnTo>
                  <a:lnTo>
                    <a:pt x="13716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97022" y="6985797"/>
            <a:ext cx="1582722" cy="1146086"/>
          </a:xfrm>
          <a:custGeom>
            <a:avLst/>
            <a:gdLst/>
            <a:ahLst/>
            <a:cxnLst/>
            <a:rect l="l" t="t" r="r" b="b"/>
            <a:pathLst>
              <a:path w="1582722" h="1146086">
                <a:moveTo>
                  <a:pt x="0" y="0"/>
                </a:moveTo>
                <a:lnTo>
                  <a:pt x="1582721" y="0"/>
                </a:lnTo>
                <a:lnTo>
                  <a:pt x="1582721" y="1146086"/>
                </a:lnTo>
                <a:lnTo>
                  <a:pt x="0" y="1146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74346" y="4826546"/>
            <a:ext cx="1267349" cy="1267349"/>
            <a:chOff x="0" y="0"/>
            <a:chExt cx="1267358" cy="1267358"/>
          </a:xfrm>
        </p:grpSpPr>
        <p:sp>
          <p:nvSpPr>
            <p:cNvPr id="11" name="Freeform 11"/>
            <p:cNvSpPr/>
            <p:nvPr/>
          </p:nvSpPr>
          <p:spPr>
            <a:xfrm>
              <a:off x="63500" y="63500"/>
              <a:ext cx="1140084" cy="1140084"/>
            </a:xfrm>
            <a:custGeom>
              <a:avLst/>
              <a:gdLst/>
              <a:ahLst/>
              <a:cxnLst/>
              <a:rect l="l" t="t" r="r" b="b"/>
              <a:pathLst>
                <a:path w="1140084" h="1140084">
                  <a:moveTo>
                    <a:pt x="555882" y="0"/>
                  </a:moveTo>
                  <a:cubicBezTo>
                    <a:pt x="252223" y="7366"/>
                    <a:pt x="7366" y="252223"/>
                    <a:pt x="0" y="555882"/>
                  </a:cubicBezTo>
                  <a:lnTo>
                    <a:pt x="0" y="584076"/>
                  </a:lnTo>
                  <a:cubicBezTo>
                    <a:pt x="7493" y="892433"/>
                    <a:pt x="259843" y="1140084"/>
                    <a:pt x="569979" y="1140084"/>
                  </a:cubicBezTo>
                  <a:cubicBezTo>
                    <a:pt x="884813" y="1140084"/>
                    <a:pt x="1140084" y="884813"/>
                    <a:pt x="1140084" y="569979"/>
                  </a:cubicBezTo>
                  <a:cubicBezTo>
                    <a:pt x="1140084" y="259843"/>
                    <a:pt x="892433" y="7493"/>
                    <a:pt x="584076" y="0"/>
                  </a:cubicBezTo>
                  <a:close/>
                </a:path>
              </a:pathLst>
            </a:custGeom>
            <a:solidFill>
              <a:srgbClr val="84E3F8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433961" y="615445"/>
              <a:ext cx="150750" cy="428373"/>
            </a:xfrm>
            <a:custGeom>
              <a:avLst/>
              <a:gdLst/>
              <a:ahLst/>
              <a:cxnLst/>
              <a:rect l="l" t="t" r="r" b="b"/>
              <a:pathLst>
                <a:path w="150750" h="428373">
                  <a:moveTo>
                    <a:pt x="150750" y="10668"/>
                  </a:moveTo>
                  <a:lnTo>
                    <a:pt x="150750" y="222505"/>
                  </a:lnTo>
                  <a:cubicBezTo>
                    <a:pt x="150750" y="228347"/>
                    <a:pt x="145923" y="233173"/>
                    <a:pt x="140081" y="233173"/>
                  </a:cubicBezTo>
                  <a:lnTo>
                    <a:pt x="10668" y="233173"/>
                  </a:lnTo>
                  <a:lnTo>
                    <a:pt x="10668" y="222505"/>
                  </a:lnTo>
                  <a:lnTo>
                    <a:pt x="21336" y="222505"/>
                  </a:lnTo>
                  <a:lnTo>
                    <a:pt x="21336" y="417704"/>
                  </a:lnTo>
                  <a:cubicBezTo>
                    <a:pt x="21336" y="423547"/>
                    <a:pt x="16510" y="428372"/>
                    <a:pt x="10668" y="428372"/>
                  </a:cubicBezTo>
                  <a:cubicBezTo>
                    <a:pt x="4826" y="428372"/>
                    <a:pt x="0" y="423547"/>
                    <a:pt x="0" y="417704"/>
                  </a:cubicBezTo>
                  <a:lnTo>
                    <a:pt x="0" y="222505"/>
                  </a:lnTo>
                  <a:cubicBezTo>
                    <a:pt x="0" y="216663"/>
                    <a:pt x="4826" y="211837"/>
                    <a:pt x="10668" y="211837"/>
                  </a:cubicBezTo>
                  <a:lnTo>
                    <a:pt x="140081" y="211837"/>
                  </a:lnTo>
                  <a:lnTo>
                    <a:pt x="140081" y="222505"/>
                  </a:lnTo>
                  <a:lnTo>
                    <a:pt x="129413" y="222505"/>
                  </a:lnTo>
                  <a:lnTo>
                    <a:pt x="129413" y="10668"/>
                  </a:lnTo>
                  <a:cubicBezTo>
                    <a:pt x="129413" y="4826"/>
                    <a:pt x="134239" y="0"/>
                    <a:pt x="140081" y="0"/>
                  </a:cubicBezTo>
                  <a:cubicBezTo>
                    <a:pt x="145923" y="0"/>
                    <a:pt x="150750" y="4826"/>
                    <a:pt x="150750" y="10668"/>
                  </a:cubicBezTo>
                  <a:close/>
                </a:path>
              </a:pathLst>
            </a:custGeom>
            <a:solidFill>
              <a:srgbClr val="040505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563374" y="615445"/>
              <a:ext cx="85979" cy="383923"/>
            </a:xfrm>
            <a:custGeom>
              <a:avLst/>
              <a:gdLst/>
              <a:ahLst/>
              <a:cxnLst/>
              <a:rect l="l" t="t" r="r" b="b"/>
              <a:pathLst>
                <a:path w="85979" h="383923">
                  <a:moveTo>
                    <a:pt x="85980" y="10668"/>
                  </a:moveTo>
                  <a:lnTo>
                    <a:pt x="85980" y="301118"/>
                  </a:lnTo>
                  <a:cubicBezTo>
                    <a:pt x="85980" y="306960"/>
                    <a:pt x="81154" y="311786"/>
                    <a:pt x="75312" y="311786"/>
                  </a:cubicBezTo>
                  <a:lnTo>
                    <a:pt x="10668" y="311786"/>
                  </a:lnTo>
                  <a:lnTo>
                    <a:pt x="10668" y="301118"/>
                  </a:lnTo>
                  <a:lnTo>
                    <a:pt x="21337" y="301118"/>
                  </a:lnTo>
                  <a:lnTo>
                    <a:pt x="21337" y="373254"/>
                  </a:lnTo>
                  <a:cubicBezTo>
                    <a:pt x="21337" y="379096"/>
                    <a:pt x="16510" y="383922"/>
                    <a:pt x="10668" y="383922"/>
                  </a:cubicBezTo>
                  <a:cubicBezTo>
                    <a:pt x="4826" y="383922"/>
                    <a:pt x="0" y="379096"/>
                    <a:pt x="0" y="373254"/>
                  </a:cubicBezTo>
                  <a:lnTo>
                    <a:pt x="0" y="301118"/>
                  </a:lnTo>
                  <a:cubicBezTo>
                    <a:pt x="0" y="295276"/>
                    <a:pt x="4826" y="290450"/>
                    <a:pt x="10668" y="290450"/>
                  </a:cubicBezTo>
                  <a:lnTo>
                    <a:pt x="75312" y="290450"/>
                  </a:lnTo>
                  <a:lnTo>
                    <a:pt x="75312" y="301118"/>
                  </a:lnTo>
                  <a:lnTo>
                    <a:pt x="64644" y="301118"/>
                  </a:lnTo>
                  <a:lnTo>
                    <a:pt x="64644" y="10668"/>
                  </a:lnTo>
                  <a:cubicBezTo>
                    <a:pt x="64644" y="4826"/>
                    <a:pt x="69470" y="0"/>
                    <a:pt x="75312" y="0"/>
                  </a:cubicBezTo>
                  <a:cubicBezTo>
                    <a:pt x="81154" y="0"/>
                    <a:pt x="85980" y="4826"/>
                    <a:pt x="85980" y="10668"/>
                  </a:cubicBezTo>
                  <a:close/>
                </a:path>
              </a:pathLst>
            </a:custGeom>
            <a:solidFill>
              <a:srgbClr val="040505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343917" y="615445"/>
              <a:ext cx="150623" cy="260859"/>
            </a:xfrm>
            <a:custGeom>
              <a:avLst/>
              <a:gdLst/>
              <a:ahLst/>
              <a:cxnLst/>
              <a:rect l="l" t="t" r="r" b="b"/>
              <a:pathLst>
                <a:path w="150623" h="260859">
                  <a:moveTo>
                    <a:pt x="0" y="250191"/>
                  </a:moveTo>
                  <a:lnTo>
                    <a:pt x="0" y="98425"/>
                  </a:lnTo>
                  <a:cubicBezTo>
                    <a:pt x="0" y="92583"/>
                    <a:pt x="4826" y="87757"/>
                    <a:pt x="10669" y="87757"/>
                  </a:cubicBezTo>
                  <a:lnTo>
                    <a:pt x="139955" y="87757"/>
                  </a:lnTo>
                  <a:lnTo>
                    <a:pt x="139955" y="98425"/>
                  </a:lnTo>
                  <a:lnTo>
                    <a:pt x="129287" y="98425"/>
                  </a:lnTo>
                  <a:lnTo>
                    <a:pt x="129287" y="10668"/>
                  </a:lnTo>
                  <a:cubicBezTo>
                    <a:pt x="129287" y="4826"/>
                    <a:pt x="134113" y="0"/>
                    <a:pt x="139955" y="0"/>
                  </a:cubicBezTo>
                  <a:cubicBezTo>
                    <a:pt x="145797" y="0"/>
                    <a:pt x="150623" y="4826"/>
                    <a:pt x="150623" y="10668"/>
                  </a:cubicBezTo>
                  <a:lnTo>
                    <a:pt x="150623" y="98425"/>
                  </a:lnTo>
                  <a:cubicBezTo>
                    <a:pt x="150623" y="104267"/>
                    <a:pt x="145797" y="109093"/>
                    <a:pt x="139955" y="109093"/>
                  </a:cubicBezTo>
                  <a:lnTo>
                    <a:pt x="10669" y="109093"/>
                  </a:lnTo>
                  <a:lnTo>
                    <a:pt x="10669" y="98425"/>
                  </a:lnTo>
                  <a:lnTo>
                    <a:pt x="21337" y="98425"/>
                  </a:lnTo>
                  <a:lnTo>
                    <a:pt x="21337" y="250191"/>
                  </a:lnTo>
                  <a:cubicBezTo>
                    <a:pt x="21337" y="256033"/>
                    <a:pt x="16511" y="260859"/>
                    <a:pt x="10669" y="260859"/>
                  </a:cubicBezTo>
                  <a:cubicBezTo>
                    <a:pt x="4827" y="260859"/>
                    <a:pt x="0" y="256033"/>
                    <a:pt x="0" y="250191"/>
                  </a:cubicBezTo>
                  <a:close/>
                </a:path>
              </a:pathLst>
            </a:custGeom>
            <a:solidFill>
              <a:srgbClr val="040505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682120" y="615445"/>
              <a:ext cx="150750" cy="428373"/>
            </a:xfrm>
            <a:custGeom>
              <a:avLst/>
              <a:gdLst/>
              <a:ahLst/>
              <a:cxnLst/>
              <a:rect l="l" t="t" r="r" b="b"/>
              <a:pathLst>
                <a:path w="150750" h="428373">
                  <a:moveTo>
                    <a:pt x="21336" y="10668"/>
                  </a:moveTo>
                  <a:lnTo>
                    <a:pt x="21336" y="222505"/>
                  </a:lnTo>
                  <a:lnTo>
                    <a:pt x="10668" y="222505"/>
                  </a:lnTo>
                  <a:lnTo>
                    <a:pt x="10668" y="211837"/>
                  </a:lnTo>
                  <a:lnTo>
                    <a:pt x="140081" y="211837"/>
                  </a:lnTo>
                  <a:cubicBezTo>
                    <a:pt x="145924" y="211837"/>
                    <a:pt x="150750" y="216663"/>
                    <a:pt x="150750" y="222505"/>
                  </a:cubicBezTo>
                  <a:lnTo>
                    <a:pt x="150750" y="417704"/>
                  </a:lnTo>
                  <a:cubicBezTo>
                    <a:pt x="150750" y="423547"/>
                    <a:pt x="145924" y="428372"/>
                    <a:pt x="140081" y="428372"/>
                  </a:cubicBezTo>
                  <a:cubicBezTo>
                    <a:pt x="134239" y="428372"/>
                    <a:pt x="129413" y="423547"/>
                    <a:pt x="129413" y="417704"/>
                  </a:cubicBezTo>
                  <a:lnTo>
                    <a:pt x="129413" y="222505"/>
                  </a:lnTo>
                  <a:lnTo>
                    <a:pt x="140081" y="222505"/>
                  </a:lnTo>
                  <a:lnTo>
                    <a:pt x="140081" y="233173"/>
                  </a:lnTo>
                  <a:lnTo>
                    <a:pt x="10668" y="233173"/>
                  </a:lnTo>
                  <a:cubicBezTo>
                    <a:pt x="4826" y="233173"/>
                    <a:pt x="0" y="228347"/>
                    <a:pt x="0" y="222505"/>
                  </a:cubicBezTo>
                  <a:lnTo>
                    <a:pt x="0" y="10668"/>
                  </a:lnTo>
                  <a:cubicBezTo>
                    <a:pt x="0" y="4826"/>
                    <a:pt x="4826" y="0"/>
                    <a:pt x="10668" y="0"/>
                  </a:cubicBezTo>
                  <a:cubicBezTo>
                    <a:pt x="16510" y="0"/>
                    <a:pt x="21336" y="4826"/>
                    <a:pt x="21336" y="10668"/>
                  </a:cubicBezTo>
                  <a:close/>
                </a:path>
              </a:pathLst>
            </a:custGeom>
            <a:solidFill>
              <a:srgbClr val="040505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772290" y="615445"/>
              <a:ext cx="150750" cy="260859"/>
            </a:xfrm>
            <a:custGeom>
              <a:avLst/>
              <a:gdLst/>
              <a:ahLst/>
              <a:cxnLst/>
              <a:rect l="l" t="t" r="r" b="b"/>
              <a:pathLst>
                <a:path w="150750" h="260859">
                  <a:moveTo>
                    <a:pt x="129414" y="250191"/>
                  </a:moveTo>
                  <a:lnTo>
                    <a:pt x="129414" y="98425"/>
                  </a:lnTo>
                  <a:lnTo>
                    <a:pt x="140082" y="98425"/>
                  </a:lnTo>
                  <a:lnTo>
                    <a:pt x="140082" y="109093"/>
                  </a:lnTo>
                  <a:lnTo>
                    <a:pt x="10668" y="109093"/>
                  </a:lnTo>
                  <a:cubicBezTo>
                    <a:pt x="4826" y="109093"/>
                    <a:pt x="0" y="104267"/>
                    <a:pt x="0" y="98425"/>
                  </a:cubicBezTo>
                  <a:lnTo>
                    <a:pt x="0" y="10668"/>
                  </a:lnTo>
                  <a:cubicBezTo>
                    <a:pt x="0" y="4826"/>
                    <a:pt x="4826" y="0"/>
                    <a:pt x="10668" y="0"/>
                  </a:cubicBezTo>
                  <a:cubicBezTo>
                    <a:pt x="16510" y="0"/>
                    <a:pt x="21336" y="4826"/>
                    <a:pt x="21336" y="10668"/>
                  </a:cubicBezTo>
                  <a:lnTo>
                    <a:pt x="21336" y="98425"/>
                  </a:lnTo>
                  <a:lnTo>
                    <a:pt x="10668" y="98425"/>
                  </a:lnTo>
                  <a:lnTo>
                    <a:pt x="10668" y="87757"/>
                  </a:lnTo>
                  <a:lnTo>
                    <a:pt x="140082" y="87757"/>
                  </a:lnTo>
                  <a:cubicBezTo>
                    <a:pt x="145924" y="87757"/>
                    <a:pt x="150750" y="92583"/>
                    <a:pt x="150750" y="98425"/>
                  </a:cubicBezTo>
                  <a:lnTo>
                    <a:pt x="150750" y="250191"/>
                  </a:lnTo>
                  <a:cubicBezTo>
                    <a:pt x="150750" y="256033"/>
                    <a:pt x="145924" y="260859"/>
                    <a:pt x="140082" y="260859"/>
                  </a:cubicBezTo>
                  <a:cubicBezTo>
                    <a:pt x="134240" y="260859"/>
                    <a:pt x="129414" y="256033"/>
                    <a:pt x="129414" y="250191"/>
                  </a:cubicBezTo>
                  <a:close/>
                </a:path>
              </a:pathLst>
            </a:custGeom>
            <a:solidFill>
              <a:srgbClr val="040505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784355" y="957330"/>
              <a:ext cx="75946" cy="75819"/>
            </a:xfrm>
            <a:custGeom>
              <a:avLst/>
              <a:gdLst/>
              <a:ahLst/>
              <a:cxnLst/>
              <a:rect l="l" t="t" r="r" b="b"/>
              <a:pathLst>
                <a:path w="75946" h="75819">
                  <a:moveTo>
                    <a:pt x="0" y="37973"/>
                  </a:moveTo>
                  <a:cubicBezTo>
                    <a:pt x="0" y="17018"/>
                    <a:pt x="17018" y="0"/>
                    <a:pt x="37973" y="0"/>
                  </a:cubicBezTo>
                  <a:cubicBezTo>
                    <a:pt x="58929" y="0"/>
                    <a:pt x="75947" y="17018"/>
                    <a:pt x="75947" y="37973"/>
                  </a:cubicBezTo>
                  <a:cubicBezTo>
                    <a:pt x="75947" y="58929"/>
                    <a:pt x="58929" y="75820"/>
                    <a:pt x="37973" y="75820"/>
                  </a:cubicBezTo>
                  <a:cubicBezTo>
                    <a:pt x="17018" y="75820"/>
                    <a:pt x="0" y="58801"/>
                    <a:pt x="0" y="37973"/>
                  </a:cubicBezTo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773687" y="946662"/>
              <a:ext cx="97283" cy="97155"/>
            </a:xfrm>
            <a:custGeom>
              <a:avLst/>
              <a:gdLst/>
              <a:ahLst/>
              <a:cxnLst/>
              <a:rect l="l" t="t" r="r" b="b"/>
              <a:pathLst>
                <a:path w="97283" h="97155">
                  <a:moveTo>
                    <a:pt x="0" y="48641"/>
                  </a:moveTo>
                  <a:cubicBezTo>
                    <a:pt x="0" y="21844"/>
                    <a:pt x="21717" y="0"/>
                    <a:pt x="48641" y="0"/>
                  </a:cubicBezTo>
                  <a:lnTo>
                    <a:pt x="48641" y="10668"/>
                  </a:lnTo>
                  <a:lnTo>
                    <a:pt x="48641" y="0"/>
                  </a:lnTo>
                  <a:cubicBezTo>
                    <a:pt x="75439" y="0"/>
                    <a:pt x="97283" y="21717"/>
                    <a:pt x="97283" y="48641"/>
                  </a:cubicBezTo>
                  <a:lnTo>
                    <a:pt x="86615" y="48641"/>
                  </a:lnTo>
                  <a:lnTo>
                    <a:pt x="97283" y="48641"/>
                  </a:lnTo>
                  <a:cubicBezTo>
                    <a:pt x="97283" y="75438"/>
                    <a:pt x="75566" y="97156"/>
                    <a:pt x="48641" y="97156"/>
                  </a:cubicBezTo>
                  <a:lnTo>
                    <a:pt x="48641" y="86488"/>
                  </a:lnTo>
                  <a:lnTo>
                    <a:pt x="48641" y="97156"/>
                  </a:lnTo>
                  <a:cubicBezTo>
                    <a:pt x="21844" y="97156"/>
                    <a:pt x="0" y="75438"/>
                    <a:pt x="0" y="48641"/>
                  </a:cubicBezTo>
                  <a:lnTo>
                    <a:pt x="10668" y="48641"/>
                  </a:lnTo>
                  <a:lnTo>
                    <a:pt x="0" y="48641"/>
                  </a:lnTo>
                  <a:moveTo>
                    <a:pt x="21336" y="48641"/>
                  </a:moveTo>
                  <a:cubicBezTo>
                    <a:pt x="21336" y="63627"/>
                    <a:pt x="33528" y="75819"/>
                    <a:pt x="48641" y="75819"/>
                  </a:cubicBezTo>
                  <a:cubicBezTo>
                    <a:pt x="63755" y="75819"/>
                    <a:pt x="75947" y="63627"/>
                    <a:pt x="75947" y="48641"/>
                  </a:cubicBezTo>
                  <a:cubicBezTo>
                    <a:pt x="75947" y="33655"/>
                    <a:pt x="63755" y="21336"/>
                    <a:pt x="48641" y="21336"/>
                  </a:cubicBezTo>
                  <a:cubicBezTo>
                    <a:pt x="33528" y="21336"/>
                    <a:pt x="21336" y="33528"/>
                    <a:pt x="21336" y="48641"/>
                  </a:cubicBezTo>
                  <a:close/>
                </a:path>
              </a:pathLst>
            </a:custGeom>
            <a:solidFill>
              <a:srgbClr val="040505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536196" y="957330"/>
              <a:ext cx="75819" cy="75819"/>
            </a:xfrm>
            <a:custGeom>
              <a:avLst/>
              <a:gdLst/>
              <a:ahLst/>
              <a:cxnLst/>
              <a:rect l="l" t="t" r="r" b="b"/>
              <a:pathLst>
                <a:path w="75819" h="75819">
                  <a:moveTo>
                    <a:pt x="0" y="37973"/>
                  </a:moveTo>
                  <a:cubicBezTo>
                    <a:pt x="0" y="17018"/>
                    <a:pt x="17018" y="0"/>
                    <a:pt x="37974" y="0"/>
                  </a:cubicBezTo>
                  <a:cubicBezTo>
                    <a:pt x="58929" y="0"/>
                    <a:pt x="75820" y="17018"/>
                    <a:pt x="75820" y="37973"/>
                  </a:cubicBezTo>
                  <a:cubicBezTo>
                    <a:pt x="75820" y="58929"/>
                    <a:pt x="58929" y="75820"/>
                    <a:pt x="37974" y="75820"/>
                  </a:cubicBezTo>
                  <a:cubicBezTo>
                    <a:pt x="17018" y="75820"/>
                    <a:pt x="0" y="58801"/>
                    <a:pt x="0" y="37973"/>
                  </a:cubicBezTo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525528" y="946662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48641"/>
                  </a:moveTo>
                  <a:cubicBezTo>
                    <a:pt x="0" y="21844"/>
                    <a:pt x="21717" y="0"/>
                    <a:pt x="48642" y="0"/>
                  </a:cubicBezTo>
                  <a:lnTo>
                    <a:pt x="48642" y="10668"/>
                  </a:lnTo>
                  <a:lnTo>
                    <a:pt x="48642" y="0"/>
                  </a:lnTo>
                  <a:cubicBezTo>
                    <a:pt x="75439" y="0"/>
                    <a:pt x="97156" y="21717"/>
                    <a:pt x="97156" y="48641"/>
                  </a:cubicBezTo>
                  <a:lnTo>
                    <a:pt x="86488" y="48641"/>
                  </a:lnTo>
                  <a:lnTo>
                    <a:pt x="97156" y="48641"/>
                  </a:lnTo>
                  <a:cubicBezTo>
                    <a:pt x="97156" y="75438"/>
                    <a:pt x="75439" y="97156"/>
                    <a:pt x="48642" y="97156"/>
                  </a:cubicBezTo>
                  <a:lnTo>
                    <a:pt x="48642" y="86488"/>
                  </a:lnTo>
                  <a:lnTo>
                    <a:pt x="48642" y="97156"/>
                  </a:lnTo>
                  <a:cubicBezTo>
                    <a:pt x="21844" y="97156"/>
                    <a:pt x="0" y="75438"/>
                    <a:pt x="0" y="48641"/>
                  </a:cubicBezTo>
                  <a:lnTo>
                    <a:pt x="10668" y="48641"/>
                  </a:lnTo>
                  <a:lnTo>
                    <a:pt x="0" y="48641"/>
                  </a:lnTo>
                  <a:moveTo>
                    <a:pt x="21336" y="48641"/>
                  </a:moveTo>
                  <a:cubicBezTo>
                    <a:pt x="21336" y="63627"/>
                    <a:pt x="33528" y="75819"/>
                    <a:pt x="48642" y="75819"/>
                  </a:cubicBezTo>
                  <a:cubicBezTo>
                    <a:pt x="63755" y="75819"/>
                    <a:pt x="75820" y="63627"/>
                    <a:pt x="75820" y="48641"/>
                  </a:cubicBezTo>
                  <a:cubicBezTo>
                    <a:pt x="75820" y="33655"/>
                    <a:pt x="63628" y="21336"/>
                    <a:pt x="48642" y="21336"/>
                  </a:cubicBezTo>
                  <a:cubicBezTo>
                    <a:pt x="33655" y="21336"/>
                    <a:pt x="21336" y="33528"/>
                    <a:pt x="21336" y="48641"/>
                  </a:cubicBezTo>
                  <a:close/>
                </a:path>
              </a:pathLst>
            </a:custGeom>
            <a:solidFill>
              <a:srgbClr val="040505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406783" y="988572"/>
              <a:ext cx="75819" cy="75946"/>
            </a:xfrm>
            <a:custGeom>
              <a:avLst/>
              <a:gdLst/>
              <a:ahLst/>
              <a:cxnLst/>
              <a:rect l="l" t="t" r="r" b="b"/>
              <a:pathLst>
                <a:path w="75819" h="75946">
                  <a:moveTo>
                    <a:pt x="0" y="37973"/>
                  </a:moveTo>
                  <a:cubicBezTo>
                    <a:pt x="0" y="17018"/>
                    <a:pt x="17018" y="0"/>
                    <a:pt x="37973" y="0"/>
                  </a:cubicBezTo>
                  <a:cubicBezTo>
                    <a:pt x="58928" y="0"/>
                    <a:pt x="75819" y="17018"/>
                    <a:pt x="75819" y="37973"/>
                  </a:cubicBezTo>
                  <a:cubicBezTo>
                    <a:pt x="75819" y="58929"/>
                    <a:pt x="58928" y="75947"/>
                    <a:pt x="37973" y="75947"/>
                  </a:cubicBezTo>
                  <a:cubicBezTo>
                    <a:pt x="17018" y="75947"/>
                    <a:pt x="0" y="58929"/>
                    <a:pt x="0" y="37973"/>
                  </a:cubicBezTo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396115" y="977904"/>
              <a:ext cx="97155" cy="97282"/>
            </a:xfrm>
            <a:custGeom>
              <a:avLst/>
              <a:gdLst/>
              <a:ahLst/>
              <a:cxnLst/>
              <a:rect l="l" t="t" r="r" b="b"/>
              <a:pathLst>
                <a:path w="97155" h="97282">
                  <a:moveTo>
                    <a:pt x="0" y="48641"/>
                  </a:moveTo>
                  <a:cubicBezTo>
                    <a:pt x="0" y="21844"/>
                    <a:pt x="21717" y="0"/>
                    <a:pt x="48641" y="0"/>
                  </a:cubicBezTo>
                  <a:lnTo>
                    <a:pt x="48641" y="10668"/>
                  </a:lnTo>
                  <a:lnTo>
                    <a:pt x="48641" y="0"/>
                  </a:lnTo>
                  <a:cubicBezTo>
                    <a:pt x="75438" y="0"/>
                    <a:pt x="97155" y="21717"/>
                    <a:pt x="97155" y="48641"/>
                  </a:cubicBezTo>
                  <a:lnTo>
                    <a:pt x="86487" y="48641"/>
                  </a:lnTo>
                  <a:lnTo>
                    <a:pt x="97155" y="48641"/>
                  </a:lnTo>
                  <a:cubicBezTo>
                    <a:pt x="97155" y="75439"/>
                    <a:pt x="75438" y="97283"/>
                    <a:pt x="48641" y="97283"/>
                  </a:cubicBezTo>
                  <a:lnTo>
                    <a:pt x="48641" y="86615"/>
                  </a:lnTo>
                  <a:lnTo>
                    <a:pt x="48641" y="97283"/>
                  </a:lnTo>
                  <a:cubicBezTo>
                    <a:pt x="21844" y="97283"/>
                    <a:pt x="0" y="75566"/>
                    <a:pt x="0" y="48641"/>
                  </a:cubicBezTo>
                  <a:lnTo>
                    <a:pt x="10668" y="48641"/>
                  </a:lnTo>
                  <a:lnTo>
                    <a:pt x="0" y="48641"/>
                  </a:lnTo>
                  <a:moveTo>
                    <a:pt x="21336" y="48641"/>
                  </a:moveTo>
                  <a:cubicBezTo>
                    <a:pt x="21336" y="63755"/>
                    <a:pt x="33528" y="75947"/>
                    <a:pt x="48641" y="75947"/>
                  </a:cubicBezTo>
                  <a:cubicBezTo>
                    <a:pt x="63754" y="75947"/>
                    <a:pt x="75819" y="63755"/>
                    <a:pt x="75819" y="48641"/>
                  </a:cubicBezTo>
                  <a:cubicBezTo>
                    <a:pt x="75819" y="33528"/>
                    <a:pt x="63627" y="21336"/>
                    <a:pt x="48641" y="21336"/>
                  </a:cubicBezTo>
                  <a:cubicBezTo>
                    <a:pt x="33655" y="21336"/>
                    <a:pt x="21336" y="33528"/>
                    <a:pt x="21336" y="48641"/>
                  </a:cubicBezTo>
                  <a:close/>
                </a:path>
              </a:pathLst>
            </a:custGeom>
            <a:solidFill>
              <a:srgbClr val="04050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316612" y="809121"/>
              <a:ext cx="75819" cy="75819"/>
            </a:xfrm>
            <a:custGeom>
              <a:avLst/>
              <a:gdLst/>
              <a:ahLst/>
              <a:cxnLst/>
              <a:rect l="l" t="t" r="r" b="b"/>
              <a:pathLst>
                <a:path w="75819" h="75819">
                  <a:moveTo>
                    <a:pt x="0" y="37846"/>
                  </a:moveTo>
                  <a:cubicBezTo>
                    <a:pt x="0" y="16891"/>
                    <a:pt x="17018" y="0"/>
                    <a:pt x="37974" y="0"/>
                  </a:cubicBezTo>
                  <a:cubicBezTo>
                    <a:pt x="58929" y="0"/>
                    <a:pt x="75820" y="16891"/>
                    <a:pt x="75820" y="37846"/>
                  </a:cubicBezTo>
                  <a:cubicBezTo>
                    <a:pt x="75820" y="58801"/>
                    <a:pt x="58802" y="75819"/>
                    <a:pt x="37974" y="75819"/>
                  </a:cubicBezTo>
                  <a:cubicBezTo>
                    <a:pt x="17145" y="75819"/>
                    <a:pt x="0" y="58801"/>
                    <a:pt x="0" y="37846"/>
                  </a:cubicBezTo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305944" y="798453"/>
              <a:ext cx="97155" cy="97155"/>
            </a:xfrm>
            <a:custGeom>
              <a:avLst/>
              <a:gdLst/>
              <a:ahLst/>
              <a:cxnLst/>
              <a:rect l="l" t="t" r="r" b="b"/>
              <a:pathLst>
                <a:path w="97155" h="97155">
                  <a:moveTo>
                    <a:pt x="0" y="48514"/>
                  </a:moveTo>
                  <a:cubicBezTo>
                    <a:pt x="0" y="21717"/>
                    <a:pt x="21717" y="0"/>
                    <a:pt x="48642" y="0"/>
                  </a:cubicBezTo>
                  <a:lnTo>
                    <a:pt x="48642" y="10668"/>
                  </a:lnTo>
                  <a:lnTo>
                    <a:pt x="48642" y="0"/>
                  </a:lnTo>
                  <a:cubicBezTo>
                    <a:pt x="75439" y="0"/>
                    <a:pt x="97156" y="21717"/>
                    <a:pt x="97156" y="48514"/>
                  </a:cubicBezTo>
                  <a:lnTo>
                    <a:pt x="86488" y="48514"/>
                  </a:lnTo>
                  <a:lnTo>
                    <a:pt x="97156" y="48514"/>
                  </a:lnTo>
                  <a:cubicBezTo>
                    <a:pt x="97156" y="75311"/>
                    <a:pt x="75439" y="97155"/>
                    <a:pt x="48642" y="97155"/>
                  </a:cubicBezTo>
                  <a:lnTo>
                    <a:pt x="48642" y="86487"/>
                  </a:lnTo>
                  <a:lnTo>
                    <a:pt x="48642" y="97155"/>
                  </a:lnTo>
                  <a:cubicBezTo>
                    <a:pt x="21844" y="97155"/>
                    <a:pt x="0" y="75438"/>
                    <a:pt x="0" y="48514"/>
                  </a:cubicBezTo>
                  <a:lnTo>
                    <a:pt x="10668" y="48514"/>
                  </a:lnTo>
                  <a:lnTo>
                    <a:pt x="0" y="48514"/>
                  </a:lnTo>
                  <a:moveTo>
                    <a:pt x="21336" y="48514"/>
                  </a:moveTo>
                  <a:cubicBezTo>
                    <a:pt x="21336" y="63627"/>
                    <a:pt x="33528" y="75819"/>
                    <a:pt x="48642" y="75819"/>
                  </a:cubicBezTo>
                  <a:cubicBezTo>
                    <a:pt x="63755" y="75819"/>
                    <a:pt x="75820" y="63627"/>
                    <a:pt x="75820" y="48514"/>
                  </a:cubicBezTo>
                  <a:cubicBezTo>
                    <a:pt x="75820" y="33401"/>
                    <a:pt x="63628" y="21336"/>
                    <a:pt x="48642" y="21336"/>
                  </a:cubicBezTo>
                  <a:cubicBezTo>
                    <a:pt x="33655" y="21336"/>
                    <a:pt x="21336" y="33528"/>
                    <a:pt x="21336" y="48514"/>
                  </a:cubicBezTo>
                  <a:close/>
                </a:path>
              </a:pathLst>
            </a:custGeom>
            <a:solidFill>
              <a:srgbClr val="040505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874399" y="830330"/>
              <a:ext cx="75819" cy="75946"/>
            </a:xfrm>
            <a:custGeom>
              <a:avLst/>
              <a:gdLst/>
              <a:ahLst/>
              <a:cxnLst/>
              <a:rect l="l" t="t" r="r" b="b"/>
              <a:pathLst>
                <a:path w="75819" h="75946">
                  <a:moveTo>
                    <a:pt x="0" y="37973"/>
                  </a:moveTo>
                  <a:cubicBezTo>
                    <a:pt x="0" y="17018"/>
                    <a:pt x="17018" y="0"/>
                    <a:pt x="37973" y="0"/>
                  </a:cubicBezTo>
                  <a:cubicBezTo>
                    <a:pt x="58928" y="0"/>
                    <a:pt x="75819" y="17018"/>
                    <a:pt x="75819" y="37973"/>
                  </a:cubicBezTo>
                  <a:cubicBezTo>
                    <a:pt x="75819" y="58928"/>
                    <a:pt x="58928" y="75946"/>
                    <a:pt x="37973" y="75946"/>
                  </a:cubicBezTo>
                  <a:cubicBezTo>
                    <a:pt x="17018" y="75946"/>
                    <a:pt x="0" y="58928"/>
                    <a:pt x="0" y="37973"/>
                  </a:cubicBezTo>
                </a:path>
              </a:pathLst>
            </a:custGeom>
            <a:solidFill>
              <a:srgbClr val="FFFFFF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863731" y="819662"/>
              <a:ext cx="97155" cy="97282"/>
            </a:xfrm>
            <a:custGeom>
              <a:avLst/>
              <a:gdLst/>
              <a:ahLst/>
              <a:cxnLst/>
              <a:rect l="l" t="t" r="r" b="b"/>
              <a:pathLst>
                <a:path w="97155" h="97282">
                  <a:moveTo>
                    <a:pt x="0" y="48641"/>
                  </a:moveTo>
                  <a:cubicBezTo>
                    <a:pt x="0" y="21844"/>
                    <a:pt x="21717" y="0"/>
                    <a:pt x="48641" y="0"/>
                  </a:cubicBezTo>
                  <a:lnTo>
                    <a:pt x="48641" y="10668"/>
                  </a:lnTo>
                  <a:lnTo>
                    <a:pt x="48641" y="0"/>
                  </a:lnTo>
                  <a:cubicBezTo>
                    <a:pt x="75438" y="0"/>
                    <a:pt x="97155" y="21717"/>
                    <a:pt x="97155" y="48641"/>
                  </a:cubicBezTo>
                  <a:lnTo>
                    <a:pt x="86487" y="48641"/>
                  </a:lnTo>
                  <a:lnTo>
                    <a:pt x="97155" y="48641"/>
                  </a:lnTo>
                  <a:cubicBezTo>
                    <a:pt x="97155" y="75438"/>
                    <a:pt x="75438" y="97282"/>
                    <a:pt x="48641" y="97282"/>
                  </a:cubicBezTo>
                  <a:lnTo>
                    <a:pt x="48641" y="86614"/>
                  </a:lnTo>
                  <a:lnTo>
                    <a:pt x="48641" y="97282"/>
                  </a:lnTo>
                  <a:cubicBezTo>
                    <a:pt x="21844" y="97282"/>
                    <a:pt x="0" y="75438"/>
                    <a:pt x="0" y="48641"/>
                  </a:cubicBezTo>
                  <a:lnTo>
                    <a:pt x="10668" y="48641"/>
                  </a:lnTo>
                  <a:lnTo>
                    <a:pt x="0" y="48641"/>
                  </a:lnTo>
                  <a:moveTo>
                    <a:pt x="21336" y="48641"/>
                  </a:moveTo>
                  <a:cubicBezTo>
                    <a:pt x="21336" y="63627"/>
                    <a:pt x="33528" y="75946"/>
                    <a:pt x="48641" y="75946"/>
                  </a:cubicBezTo>
                  <a:cubicBezTo>
                    <a:pt x="63754" y="75946"/>
                    <a:pt x="75819" y="63754"/>
                    <a:pt x="75819" y="48641"/>
                  </a:cubicBezTo>
                  <a:cubicBezTo>
                    <a:pt x="75819" y="33528"/>
                    <a:pt x="63627" y="21336"/>
                    <a:pt x="48641" y="21336"/>
                  </a:cubicBezTo>
                  <a:cubicBezTo>
                    <a:pt x="33655" y="21336"/>
                    <a:pt x="21336" y="33528"/>
                    <a:pt x="21336" y="48641"/>
                  </a:cubicBezTo>
                  <a:close/>
                </a:path>
              </a:pathLst>
            </a:custGeom>
            <a:solidFill>
              <a:srgbClr val="040505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45746" y="191771"/>
              <a:ext cx="775592" cy="460885"/>
            </a:xfrm>
            <a:custGeom>
              <a:avLst/>
              <a:gdLst/>
              <a:ahLst/>
              <a:cxnLst/>
              <a:rect l="l" t="t" r="r" b="b"/>
              <a:pathLst>
                <a:path w="775592" h="460885">
                  <a:moveTo>
                    <a:pt x="160910" y="460885"/>
                  </a:moveTo>
                  <a:cubicBezTo>
                    <a:pt x="72136" y="460885"/>
                    <a:pt x="0" y="388749"/>
                    <a:pt x="0" y="299975"/>
                  </a:cubicBezTo>
                  <a:cubicBezTo>
                    <a:pt x="0" y="220092"/>
                    <a:pt x="60071" y="151765"/>
                    <a:pt x="138304" y="140716"/>
                  </a:cubicBezTo>
                  <a:cubicBezTo>
                    <a:pt x="147829" y="61087"/>
                    <a:pt x="215901" y="0"/>
                    <a:pt x="297054" y="0"/>
                  </a:cubicBezTo>
                  <a:cubicBezTo>
                    <a:pt x="338711" y="0"/>
                    <a:pt x="378843" y="16383"/>
                    <a:pt x="408561" y="45339"/>
                  </a:cubicBezTo>
                  <a:cubicBezTo>
                    <a:pt x="434977" y="27559"/>
                    <a:pt x="465584" y="18161"/>
                    <a:pt x="497715" y="18161"/>
                  </a:cubicBezTo>
                  <a:cubicBezTo>
                    <a:pt x="585854" y="18161"/>
                    <a:pt x="657609" y="89916"/>
                    <a:pt x="657609" y="178055"/>
                  </a:cubicBezTo>
                  <a:cubicBezTo>
                    <a:pt x="657609" y="178563"/>
                    <a:pt x="657609" y="178944"/>
                    <a:pt x="657609" y="179452"/>
                  </a:cubicBezTo>
                  <a:cubicBezTo>
                    <a:pt x="725554" y="190755"/>
                    <a:pt x="775592" y="249175"/>
                    <a:pt x="775592" y="319152"/>
                  </a:cubicBezTo>
                  <a:cubicBezTo>
                    <a:pt x="775592" y="397258"/>
                    <a:pt x="711965" y="460885"/>
                    <a:pt x="633860" y="460885"/>
                  </a:cubicBezTo>
                  <a:lnTo>
                    <a:pt x="160910" y="460885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235078" y="181103"/>
              <a:ext cx="796801" cy="482221"/>
            </a:xfrm>
            <a:custGeom>
              <a:avLst/>
              <a:gdLst/>
              <a:ahLst/>
              <a:cxnLst/>
              <a:rect l="l" t="t" r="r" b="b"/>
              <a:pathLst>
                <a:path w="796801" h="482221">
                  <a:moveTo>
                    <a:pt x="307595" y="0"/>
                  </a:moveTo>
                  <a:cubicBezTo>
                    <a:pt x="223775" y="0"/>
                    <a:pt x="153036" y="61214"/>
                    <a:pt x="139447" y="142113"/>
                  </a:cubicBezTo>
                  <a:cubicBezTo>
                    <a:pt x="103505" y="148844"/>
                    <a:pt x="70612" y="167133"/>
                    <a:pt x="45466" y="194311"/>
                  </a:cubicBezTo>
                  <a:cubicBezTo>
                    <a:pt x="16129" y="226061"/>
                    <a:pt x="0" y="267336"/>
                    <a:pt x="0" y="310643"/>
                  </a:cubicBezTo>
                  <a:cubicBezTo>
                    <a:pt x="0" y="405259"/>
                    <a:pt x="76962" y="482221"/>
                    <a:pt x="171578" y="482221"/>
                  </a:cubicBezTo>
                  <a:lnTo>
                    <a:pt x="644401" y="482221"/>
                  </a:lnTo>
                  <a:cubicBezTo>
                    <a:pt x="728475" y="482221"/>
                    <a:pt x="796801" y="413895"/>
                    <a:pt x="796801" y="329820"/>
                  </a:cubicBezTo>
                  <a:cubicBezTo>
                    <a:pt x="796801" y="291720"/>
                    <a:pt x="782704" y="255144"/>
                    <a:pt x="756923" y="227077"/>
                  </a:cubicBezTo>
                  <a:cubicBezTo>
                    <a:pt x="735841" y="204090"/>
                    <a:pt x="708663" y="188215"/>
                    <a:pt x="678691" y="181357"/>
                  </a:cubicBezTo>
                  <a:cubicBezTo>
                    <a:pt x="674754" y="90805"/>
                    <a:pt x="599824" y="18161"/>
                    <a:pt x="508256" y="18161"/>
                  </a:cubicBezTo>
                  <a:cubicBezTo>
                    <a:pt x="476760" y="18161"/>
                    <a:pt x="446788" y="26543"/>
                    <a:pt x="420245" y="42545"/>
                  </a:cubicBezTo>
                  <a:cubicBezTo>
                    <a:pt x="389257" y="15367"/>
                    <a:pt x="349125" y="0"/>
                    <a:pt x="307595" y="0"/>
                  </a:cubicBezTo>
                  <a:close/>
                  <a:moveTo>
                    <a:pt x="307595" y="21336"/>
                  </a:moveTo>
                  <a:cubicBezTo>
                    <a:pt x="351284" y="21336"/>
                    <a:pt x="390527" y="40132"/>
                    <a:pt x="417832" y="69977"/>
                  </a:cubicBezTo>
                  <a:cubicBezTo>
                    <a:pt x="442978" y="50800"/>
                    <a:pt x="474220" y="39497"/>
                    <a:pt x="508256" y="39497"/>
                  </a:cubicBezTo>
                  <a:cubicBezTo>
                    <a:pt x="590680" y="39497"/>
                    <a:pt x="657482" y="106299"/>
                    <a:pt x="657482" y="188723"/>
                  </a:cubicBezTo>
                  <a:cubicBezTo>
                    <a:pt x="657482" y="192279"/>
                    <a:pt x="657355" y="195835"/>
                    <a:pt x="657101" y="199391"/>
                  </a:cubicBezTo>
                  <a:cubicBezTo>
                    <a:pt x="723522" y="205741"/>
                    <a:pt x="775465" y="261748"/>
                    <a:pt x="775465" y="329820"/>
                  </a:cubicBezTo>
                  <a:cubicBezTo>
                    <a:pt x="775465" y="402211"/>
                    <a:pt x="716791" y="460885"/>
                    <a:pt x="644401" y="460885"/>
                  </a:cubicBezTo>
                  <a:lnTo>
                    <a:pt x="171578" y="460885"/>
                  </a:lnTo>
                  <a:cubicBezTo>
                    <a:pt x="88646" y="460885"/>
                    <a:pt x="21336" y="393575"/>
                    <a:pt x="21336" y="310643"/>
                  </a:cubicBezTo>
                  <a:cubicBezTo>
                    <a:pt x="21336" y="232030"/>
                    <a:pt x="81788" y="167514"/>
                    <a:pt x="158751" y="160910"/>
                  </a:cubicBezTo>
                  <a:cubicBezTo>
                    <a:pt x="163704" y="82931"/>
                    <a:pt x="228474" y="21209"/>
                    <a:pt x="307595" y="21209"/>
                  </a:cubicBezTo>
                </a:path>
              </a:pathLst>
            </a:custGeom>
            <a:solidFill>
              <a:srgbClr val="040505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567819" y="426468"/>
              <a:ext cx="111633" cy="111633"/>
            </a:xfrm>
            <a:custGeom>
              <a:avLst/>
              <a:gdLst/>
              <a:ahLst/>
              <a:cxnLst/>
              <a:rect l="l" t="t" r="r" b="b"/>
              <a:pathLst>
                <a:path w="111633" h="111633">
                  <a:moveTo>
                    <a:pt x="21337" y="10668"/>
                  </a:moveTo>
                  <a:cubicBezTo>
                    <a:pt x="21337" y="54610"/>
                    <a:pt x="57024" y="90297"/>
                    <a:pt x="100966" y="90297"/>
                  </a:cubicBezTo>
                  <a:cubicBezTo>
                    <a:pt x="106808" y="90297"/>
                    <a:pt x="111634" y="95123"/>
                    <a:pt x="111634" y="100965"/>
                  </a:cubicBezTo>
                  <a:cubicBezTo>
                    <a:pt x="111634" y="106807"/>
                    <a:pt x="106808" y="111633"/>
                    <a:pt x="100966" y="111633"/>
                  </a:cubicBezTo>
                  <a:cubicBezTo>
                    <a:pt x="45213" y="111633"/>
                    <a:pt x="0" y="66421"/>
                    <a:pt x="0" y="10668"/>
                  </a:cubicBezTo>
                  <a:cubicBezTo>
                    <a:pt x="0" y="4826"/>
                    <a:pt x="4826" y="0"/>
                    <a:pt x="10668" y="0"/>
                  </a:cubicBezTo>
                  <a:cubicBezTo>
                    <a:pt x="16510" y="0"/>
                    <a:pt x="21337" y="4826"/>
                    <a:pt x="21337" y="10668"/>
                  </a:cubicBezTo>
                  <a:close/>
                </a:path>
              </a:pathLst>
            </a:custGeom>
            <a:solidFill>
              <a:srgbClr val="040505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399693" y="471681"/>
              <a:ext cx="209909" cy="99948"/>
            </a:xfrm>
            <a:custGeom>
              <a:avLst/>
              <a:gdLst/>
              <a:ahLst/>
              <a:cxnLst/>
              <a:rect l="l" t="t" r="r" b="b"/>
              <a:pathLst>
                <a:path w="209909" h="99948">
                  <a:moveTo>
                    <a:pt x="194416" y="34670"/>
                  </a:moveTo>
                  <a:cubicBezTo>
                    <a:pt x="129899" y="2920"/>
                    <a:pt x="51921" y="29463"/>
                    <a:pt x="20171" y="93979"/>
                  </a:cubicBezTo>
                  <a:cubicBezTo>
                    <a:pt x="17631" y="99313"/>
                    <a:pt x="11154" y="101472"/>
                    <a:pt x="5947" y="98805"/>
                  </a:cubicBezTo>
                  <a:cubicBezTo>
                    <a:pt x="740" y="96138"/>
                    <a:pt x="-1546" y="89788"/>
                    <a:pt x="1121" y="84581"/>
                  </a:cubicBezTo>
                  <a:cubicBezTo>
                    <a:pt x="38078" y="9524"/>
                    <a:pt x="128883" y="-21337"/>
                    <a:pt x="203941" y="15620"/>
                  </a:cubicBezTo>
                  <a:cubicBezTo>
                    <a:pt x="209275" y="18160"/>
                    <a:pt x="211434" y="24637"/>
                    <a:pt x="208767" y="29844"/>
                  </a:cubicBezTo>
                  <a:cubicBezTo>
                    <a:pt x="206100" y="35051"/>
                    <a:pt x="199750" y="37337"/>
                    <a:pt x="194543" y="34670"/>
                  </a:cubicBezTo>
                  <a:close/>
                </a:path>
              </a:pathLst>
            </a:custGeom>
            <a:solidFill>
              <a:srgbClr val="040505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547785" y="248080"/>
              <a:ext cx="220536" cy="62659"/>
            </a:xfrm>
            <a:custGeom>
              <a:avLst/>
              <a:gdLst/>
              <a:ahLst/>
              <a:cxnLst/>
              <a:rect l="l" t="t" r="r" b="b"/>
              <a:pathLst>
                <a:path w="220536" h="62659">
                  <a:moveTo>
                    <a:pt x="202407" y="59515"/>
                  </a:moveTo>
                  <a:cubicBezTo>
                    <a:pt x="151607" y="8715"/>
                    <a:pt x="69311" y="8715"/>
                    <a:pt x="18383" y="59388"/>
                  </a:cubicBezTo>
                  <a:cubicBezTo>
                    <a:pt x="18383" y="59388"/>
                    <a:pt x="18383" y="59388"/>
                    <a:pt x="18256" y="59515"/>
                  </a:cubicBezTo>
                  <a:cubicBezTo>
                    <a:pt x="14065" y="63706"/>
                    <a:pt x="7334" y="63706"/>
                    <a:pt x="3143" y="59515"/>
                  </a:cubicBezTo>
                  <a:cubicBezTo>
                    <a:pt x="-1048" y="55324"/>
                    <a:pt x="-1048" y="48593"/>
                    <a:pt x="3143" y="44402"/>
                  </a:cubicBezTo>
                  <a:cubicBezTo>
                    <a:pt x="3143" y="44402"/>
                    <a:pt x="3143" y="44402"/>
                    <a:pt x="3270" y="44275"/>
                  </a:cubicBezTo>
                  <a:cubicBezTo>
                    <a:pt x="62453" y="-14780"/>
                    <a:pt x="158338" y="-14780"/>
                    <a:pt x="217393" y="44402"/>
                  </a:cubicBezTo>
                  <a:cubicBezTo>
                    <a:pt x="221584" y="48593"/>
                    <a:pt x="221584" y="55324"/>
                    <a:pt x="217393" y="59515"/>
                  </a:cubicBezTo>
                  <a:cubicBezTo>
                    <a:pt x="213202" y="63706"/>
                    <a:pt x="206471" y="63706"/>
                    <a:pt x="202280" y="59515"/>
                  </a:cubicBezTo>
                  <a:close/>
                </a:path>
              </a:pathLst>
            </a:custGeom>
            <a:solidFill>
              <a:srgbClr val="040505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816486" y="469394"/>
              <a:ext cx="187707" cy="104521"/>
            </a:xfrm>
            <a:custGeom>
              <a:avLst/>
              <a:gdLst/>
              <a:ahLst/>
              <a:cxnLst/>
              <a:rect l="l" t="t" r="r" b="b"/>
              <a:pathLst>
                <a:path w="187707" h="104521">
                  <a:moveTo>
                    <a:pt x="166371" y="93726"/>
                  </a:moveTo>
                  <a:cubicBezTo>
                    <a:pt x="166371" y="53721"/>
                    <a:pt x="133859" y="21209"/>
                    <a:pt x="93854" y="21209"/>
                  </a:cubicBezTo>
                  <a:lnTo>
                    <a:pt x="93854" y="10668"/>
                  </a:lnTo>
                  <a:lnTo>
                    <a:pt x="93854" y="21336"/>
                  </a:lnTo>
                  <a:cubicBezTo>
                    <a:pt x="53849" y="21336"/>
                    <a:pt x="21337" y="53848"/>
                    <a:pt x="21337" y="93853"/>
                  </a:cubicBezTo>
                  <a:cubicBezTo>
                    <a:pt x="21337" y="99695"/>
                    <a:pt x="16511" y="104522"/>
                    <a:pt x="10669" y="104522"/>
                  </a:cubicBezTo>
                  <a:cubicBezTo>
                    <a:pt x="4826" y="104522"/>
                    <a:pt x="0" y="99695"/>
                    <a:pt x="0" y="93853"/>
                  </a:cubicBezTo>
                  <a:cubicBezTo>
                    <a:pt x="0" y="42037"/>
                    <a:pt x="42038" y="0"/>
                    <a:pt x="93854" y="0"/>
                  </a:cubicBezTo>
                  <a:cubicBezTo>
                    <a:pt x="145670" y="0"/>
                    <a:pt x="187707" y="42037"/>
                    <a:pt x="187707" y="93853"/>
                  </a:cubicBezTo>
                  <a:cubicBezTo>
                    <a:pt x="187707" y="99695"/>
                    <a:pt x="182881" y="104522"/>
                    <a:pt x="177039" y="104522"/>
                  </a:cubicBezTo>
                  <a:cubicBezTo>
                    <a:pt x="171197" y="104522"/>
                    <a:pt x="166371" y="99695"/>
                    <a:pt x="166371" y="93853"/>
                  </a:cubicBezTo>
                  <a:close/>
                </a:path>
              </a:pathLst>
            </a:custGeom>
            <a:solidFill>
              <a:srgbClr val="040505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63500" y="63500"/>
              <a:ext cx="1140338" cy="1140338"/>
            </a:xfrm>
            <a:custGeom>
              <a:avLst/>
              <a:gdLst/>
              <a:ahLst/>
              <a:cxnLst/>
              <a:rect l="l" t="t" r="r" b="b"/>
              <a:pathLst>
                <a:path w="1140338" h="1140338">
                  <a:moveTo>
                    <a:pt x="0" y="1140338"/>
                  </a:moveTo>
                  <a:lnTo>
                    <a:pt x="1140338" y="1140338"/>
                  </a:lnTo>
                  <a:lnTo>
                    <a:pt x="11403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34" name="Freeform 34"/>
          <p:cNvSpPr/>
          <p:nvPr/>
        </p:nvSpPr>
        <p:spPr>
          <a:xfrm>
            <a:off x="7597716" y="6319599"/>
            <a:ext cx="3601202" cy="3430572"/>
          </a:xfrm>
          <a:custGeom>
            <a:avLst/>
            <a:gdLst/>
            <a:ahLst/>
            <a:cxnLst/>
            <a:rect l="l" t="t" r="r" b="b"/>
            <a:pathLst>
              <a:path w="3601202" h="3430572">
                <a:moveTo>
                  <a:pt x="0" y="0"/>
                </a:moveTo>
                <a:lnTo>
                  <a:pt x="3601203" y="0"/>
                </a:lnTo>
                <a:lnTo>
                  <a:pt x="3601203" y="3430572"/>
                </a:lnTo>
                <a:lnTo>
                  <a:pt x="0" y="34305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5" name="Freeform 35"/>
          <p:cNvSpPr/>
          <p:nvPr/>
        </p:nvSpPr>
        <p:spPr>
          <a:xfrm>
            <a:off x="11270542" y="6982920"/>
            <a:ext cx="3210439" cy="2767251"/>
          </a:xfrm>
          <a:custGeom>
            <a:avLst/>
            <a:gdLst/>
            <a:ahLst/>
            <a:cxnLst/>
            <a:rect l="l" t="t" r="r" b="b"/>
            <a:pathLst>
              <a:path w="3210439" h="2767251">
                <a:moveTo>
                  <a:pt x="0" y="0"/>
                </a:moveTo>
                <a:lnTo>
                  <a:pt x="3210439" y="0"/>
                </a:lnTo>
                <a:lnTo>
                  <a:pt x="3210439" y="2767251"/>
                </a:lnTo>
                <a:lnTo>
                  <a:pt x="0" y="2767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4644211" y="6982920"/>
            <a:ext cx="3210439" cy="2767251"/>
          </a:xfrm>
          <a:custGeom>
            <a:avLst/>
            <a:gdLst/>
            <a:ahLst/>
            <a:cxnLst/>
            <a:rect l="l" t="t" r="r" b="b"/>
            <a:pathLst>
              <a:path w="3210439" h="2767251">
                <a:moveTo>
                  <a:pt x="0" y="0"/>
                </a:moveTo>
                <a:lnTo>
                  <a:pt x="3210440" y="0"/>
                </a:lnTo>
                <a:lnTo>
                  <a:pt x="3210440" y="2767251"/>
                </a:lnTo>
                <a:lnTo>
                  <a:pt x="0" y="2767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9080497" y="2124332"/>
            <a:ext cx="8242297" cy="4385634"/>
          </a:xfrm>
          <a:custGeom>
            <a:avLst/>
            <a:gdLst/>
            <a:ahLst/>
            <a:cxnLst/>
            <a:rect l="l" t="t" r="r" b="b"/>
            <a:pathLst>
              <a:path w="8242297" h="4385634">
                <a:moveTo>
                  <a:pt x="0" y="0"/>
                </a:moveTo>
                <a:lnTo>
                  <a:pt x="8242297" y="0"/>
                </a:lnTo>
                <a:lnTo>
                  <a:pt x="8242297" y="4385634"/>
                </a:lnTo>
                <a:lnTo>
                  <a:pt x="0" y="4385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4147547" y="297294"/>
            <a:ext cx="10182587" cy="10191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398"/>
              </a:lnSpc>
              <a:spcBef>
                <a:spcPct val="0"/>
              </a:spcBef>
            </a:pPr>
            <a:r>
              <a:rPr lang="en-US" sz="5999" b="1" u="none" strike="noStrike" dirty="0">
                <a:solidFill>
                  <a:srgbClr val="3D25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FEASIBILITY AND VIABILITY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50382" y="3416141"/>
            <a:ext cx="6190288" cy="1360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8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Technical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</a:p>
          <a:p>
            <a:pPr algn="ctr">
              <a:lnSpc>
                <a:spcPts val="2100"/>
              </a:lnSpc>
            </a:pPr>
            <a:endParaRPr lang="en-US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10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Built using the Google Workspace ecosystem — Apps Script, Sheets, Drive and HTML/CSS/JS — enabling a low-cost, serverless and easily deployable solution.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69781" y="7801337"/>
            <a:ext cx="6264259" cy="1360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8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Economic:</a:t>
            </a:r>
          </a:p>
          <a:p>
            <a:pPr algn="ctr">
              <a:lnSpc>
                <a:spcPts val="2100"/>
              </a:lnSpc>
            </a:pPr>
            <a:endParaRPr lang="en-US" sz="1800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2100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Uses existing Google infrastructure with minimal deployment and maintenance costs, making it suitable for resource-constrained institutions.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241911" y="8032747"/>
            <a:ext cx="64780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03652" y="5578564"/>
            <a:ext cx="6285700" cy="1360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Operational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</a:p>
          <a:p>
            <a:pPr algn="ctr">
              <a:lnSpc>
                <a:spcPts val="2100"/>
              </a:lnSpc>
            </a:pPr>
            <a:endParaRPr lang="en-US" sz="18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10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Digitizes the complete hostel workflow from application and verification to allocation, payment and registration, reducing manual workload.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798013" y="7409881"/>
            <a:ext cx="3370545" cy="1960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5"/>
              </a:lnSpc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Smart Validation:</a:t>
            </a:r>
          </a:p>
          <a:p>
            <a:pPr algn="ctr">
              <a:lnSpc>
                <a:spcPts val="2215"/>
              </a:lnSpc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Automated checks for duplicates, missing information and address inconsistencies, with manual verification for flagged cases.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431695" y="7409881"/>
            <a:ext cx="2827130" cy="1684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5"/>
              </a:lnSpc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Secure Data Handling:</a:t>
            </a:r>
          </a:p>
          <a:p>
            <a:pPr algn="ctr">
              <a:lnSpc>
                <a:spcPts val="2215"/>
              </a:lnSpc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Role-based access, limited data collection, audit logs and controlled document access.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644211" y="7419406"/>
            <a:ext cx="3210439" cy="1560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8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Configurable Allocation:</a:t>
            </a:r>
          </a:p>
          <a:p>
            <a:pPr algn="ctr">
              <a:lnSpc>
                <a:spcPts val="2098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Administrators can define eligibility, priorities, accessibility rules, weights and deadlines without changing the core system.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76029" y="2372936"/>
            <a:ext cx="3204121" cy="73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FEASIBILITY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367957" y="1551530"/>
            <a:ext cx="3144838" cy="673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CHALLENGES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890360" y="2415130"/>
            <a:ext cx="75552" cy="37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b="1">
                <a:solidFill>
                  <a:srgbClr val="E9F4F6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312668" y="2415130"/>
            <a:ext cx="2265463" cy="3542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099" b="1" dirty="0">
                <a:solidFill>
                  <a:srgbClr val="E9F4F6"/>
                </a:solidFill>
                <a:latin typeface="Poppins Bold"/>
                <a:ea typeface="Poppins Bold"/>
                <a:cs typeface="Poppins Bold"/>
                <a:sym typeface="Poppins Bold"/>
              </a:rPr>
              <a:t>Data</a:t>
            </a:r>
            <a:r>
              <a:rPr lang="en-US" sz="20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099" b="1" dirty="0">
                <a:solidFill>
                  <a:srgbClr val="E9F4F6"/>
                </a:solidFill>
                <a:latin typeface="Poppins Bold"/>
                <a:ea typeface="Poppins Bold"/>
                <a:cs typeface="Poppins Bold"/>
                <a:sym typeface="Poppins Bold"/>
              </a:rPr>
              <a:t>Reliability: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161558" y="2493339"/>
            <a:ext cx="2168576" cy="2776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2"/>
              </a:lnSpc>
            </a:pPr>
            <a:r>
              <a:rPr lang="en-US" sz="2100" b="1">
                <a:solidFill>
                  <a:srgbClr val="676464"/>
                </a:solidFill>
                <a:latin typeface="Poppins Bold"/>
                <a:ea typeface="Poppins Bold"/>
                <a:cs typeface="Poppins Bold"/>
                <a:sym typeface="Poppins Bold"/>
              </a:rPr>
              <a:t>User Adoption: </a:t>
            </a:r>
          </a:p>
          <a:p>
            <a:pPr algn="ctr">
              <a:lnSpc>
                <a:spcPts val="2482"/>
              </a:lnSpc>
            </a:pPr>
            <a:endParaRPr lang="en-US" sz="2100" b="1">
              <a:solidFill>
                <a:srgbClr val="676464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2127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Government or address documents require secure handling, controlled access and reliable verification.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993836" y="2453230"/>
            <a:ext cx="2265464" cy="3186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199" b="1">
                <a:solidFill>
                  <a:srgbClr val="DCE6F2"/>
                </a:solidFill>
                <a:latin typeface="Poppins Bold"/>
                <a:ea typeface="Poppins Bold"/>
                <a:cs typeface="Poppins Bold"/>
                <a:sym typeface="Poppins Bold"/>
              </a:rPr>
              <a:t>Accessibility</a:t>
            </a:r>
            <a:r>
              <a:rPr lang="en-US" sz="2199" b="1">
                <a:solidFill>
                  <a:srgbClr val="E9F4F6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  <a:p>
            <a:pPr algn="ctr">
              <a:lnSpc>
                <a:spcPts val="2600"/>
              </a:lnSpc>
            </a:pPr>
            <a:endParaRPr lang="en-US" sz="2199" b="1">
              <a:solidFill>
                <a:srgbClr val="E9F4F6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2127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Allocation rules</a:t>
            </a:r>
          </a:p>
          <a:p>
            <a:pPr algn="ctr">
              <a:lnSpc>
                <a:spcPts val="2127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differ across the institutions, requiring configurable policies and staff acceptance.</a:t>
            </a:r>
          </a:p>
          <a:p>
            <a:pPr algn="ctr">
              <a:lnSpc>
                <a:spcPts val="2582"/>
              </a:lnSpc>
            </a:pPr>
            <a:endParaRPr lang="en-US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ctr">
              <a:lnSpc>
                <a:spcPts val="2582"/>
              </a:lnSpc>
            </a:pPr>
            <a:r>
              <a:rPr lang="en-US" sz="218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308763" y="3016158"/>
            <a:ext cx="2122932" cy="289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6"/>
              </a:lnSpc>
            </a:pPr>
            <a:endParaRPr/>
          </a:p>
        </p:txBody>
      </p:sp>
      <p:sp>
        <p:nvSpPr>
          <p:cNvPr id="53" name="TextBox 53"/>
          <p:cNvSpPr txBox="1"/>
          <p:nvPr/>
        </p:nvSpPr>
        <p:spPr>
          <a:xfrm>
            <a:off x="7944136" y="6542456"/>
            <a:ext cx="2266664" cy="440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SOLUTIONS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270944" y="3124885"/>
            <a:ext cx="2226912" cy="25260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Incorrect addresses, duplicate applications and incomplete documents can affect fair allocation.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61892" y="6533702"/>
            <a:ext cx="7194747" cy="3073556"/>
          </a:xfrm>
          <a:custGeom>
            <a:avLst/>
            <a:gdLst/>
            <a:ahLst/>
            <a:cxnLst/>
            <a:rect l="l" t="t" r="r" b="b"/>
            <a:pathLst>
              <a:path w="7194747" h="3073556">
                <a:moveTo>
                  <a:pt x="0" y="0"/>
                </a:moveTo>
                <a:lnTo>
                  <a:pt x="7194747" y="0"/>
                </a:lnTo>
                <a:lnTo>
                  <a:pt x="7194747" y="3073556"/>
                </a:lnTo>
                <a:lnTo>
                  <a:pt x="0" y="3073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20551" y="2564768"/>
            <a:ext cx="9677543" cy="3549015"/>
          </a:xfrm>
          <a:custGeom>
            <a:avLst/>
            <a:gdLst/>
            <a:ahLst/>
            <a:cxnLst/>
            <a:rect l="l" t="t" r="r" b="b"/>
            <a:pathLst>
              <a:path w="9677543" h="3549015">
                <a:moveTo>
                  <a:pt x="0" y="0"/>
                </a:moveTo>
                <a:lnTo>
                  <a:pt x="9677543" y="0"/>
                </a:lnTo>
                <a:lnTo>
                  <a:pt x="9677543" y="3549015"/>
                </a:lnTo>
                <a:lnTo>
                  <a:pt x="0" y="35490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877812" y="6569964"/>
            <a:ext cx="4279954" cy="1347464"/>
          </a:xfrm>
          <a:custGeom>
            <a:avLst/>
            <a:gdLst/>
            <a:ahLst/>
            <a:cxnLst/>
            <a:rect l="l" t="t" r="r" b="b"/>
            <a:pathLst>
              <a:path w="4279954" h="1347464">
                <a:moveTo>
                  <a:pt x="0" y="0"/>
                </a:moveTo>
                <a:lnTo>
                  <a:pt x="4279954" y="0"/>
                </a:lnTo>
                <a:lnTo>
                  <a:pt x="4279954" y="1347464"/>
                </a:lnTo>
                <a:lnTo>
                  <a:pt x="0" y="13474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893946" y="8070480"/>
            <a:ext cx="4279954" cy="1591050"/>
          </a:xfrm>
          <a:custGeom>
            <a:avLst/>
            <a:gdLst/>
            <a:ahLst/>
            <a:cxnLst/>
            <a:rect l="l" t="t" r="r" b="b"/>
            <a:pathLst>
              <a:path w="4279954" h="1591050">
                <a:moveTo>
                  <a:pt x="0" y="0"/>
                </a:moveTo>
                <a:lnTo>
                  <a:pt x="4279954" y="0"/>
                </a:lnTo>
                <a:lnTo>
                  <a:pt x="4279954" y="1591050"/>
                </a:lnTo>
                <a:lnTo>
                  <a:pt x="0" y="15910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109989" y="2061762"/>
            <a:ext cx="6957717" cy="2427884"/>
          </a:xfrm>
          <a:custGeom>
            <a:avLst/>
            <a:gdLst/>
            <a:ahLst/>
            <a:cxnLst/>
            <a:rect l="l" t="t" r="r" b="b"/>
            <a:pathLst>
              <a:path w="6957717" h="2427884">
                <a:moveTo>
                  <a:pt x="0" y="0"/>
                </a:moveTo>
                <a:lnTo>
                  <a:pt x="6957717" y="0"/>
                </a:lnTo>
                <a:lnTo>
                  <a:pt x="6957717" y="2427885"/>
                </a:lnTo>
                <a:lnTo>
                  <a:pt x="0" y="24278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874960" y="4689100"/>
            <a:ext cx="6192745" cy="1699050"/>
          </a:xfrm>
          <a:custGeom>
            <a:avLst/>
            <a:gdLst/>
            <a:ahLst/>
            <a:cxnLst/>
            <a:rect l="l" t="t" r="r" b="b"/>
            <a:pathLst>
              <a:path w="6192745" h="1699050">
                <a:moveTo>
                  <a:pt x="0" y="0"/>
                </a:moveTo>
                <a:lnTo>
                  <a:pt x="6192746" y="0"/>
                </a:lnTo>
                <a:lnTo>
                  <a:pt x="6192746" y="1699051"/>
                </a:lnTo>
                <a:lnTo>
                  <a:pt x="0" y="16990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955739" y="6588176"/>
            <a:ext cx="6109776" cy="1676287"/>
          </a:xfrm>
          <a:custGeom>
            <a:avLst/>
            <a:gdLst/>
            <a:ahLst/>
            <a:cxnLst/>
            <a:rect l="l" t="t" r="r" b="b"/>
            <a:pathLst>
              <a:path w="6109776" h="1676287">
                <a:moveTo>
                  <a:pt x="0" y="0"/>
                </a:moveTo>
                <a:lnTo>
                  <a:pt x="6109776" y="0"/>
                </a:lnTo>
                <a:lnTo>
                  <a:pt x="6109776" y="1676287"/>
                </a:lnTo>
                <a:lnTo>
                  <a:pt x="0" y="16762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2040753" y="2918431"/>
            <a:ext cx="1371600" cy="1371600"/>
            <a:chOff x="0" y="0"/>
            <a:chExt cx="1828800" cy="1828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2281650" y="6886071"/>
            <a:ext cx="1080497" cy="1080497"/>
            <a:chOff x="0" y="0"/>
            <a:chExt cx="1587500" cy="15875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87500" cy="1587500"/>
            </a:xfrm>
            <a:custGeom>
              <a:avLst/>
              <a:gdLst/>
              <a:ahLst/>
              <a:cxnLst/>
              <a:rect l="l" t="t" r="r" b="b"/>
              <a:pathLst>
                <a:path w="1587500" h="1587500">
                  <a:moveTo>
                    <a:pt x="0" y="0"/>
                  </a:moveTo>
                  <a:lnTo>
                    <a:pt x="1587500" y="0"/>
                  </a:lnTo>
                  <a:lnTo>
                    <a:pt x="1587500" y="1587500"/>
                  </a:lnTo>
                  <a:lnTo>
                    <a:pt x="0" y="158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520560" y="2564768"/>
            <a:ext cx="9751190" cy="3549015"/>
            <a:chOff x="0" y="0"/>
            <a:chExt cx="9751187" cy="3549015"/>
          </a:xfrm>
        </p:grpSpPr>
        <p:sp>
          <p:nvSpPr>
            <p:cNvPr id="14" name="Freeform 14"/>
            <p:cNvSpPr/>
            <p:nvPr/>
          </p:nvSpPr>
          <p:spPr>
            <a:xfrm>
              <a:off x="6496048" y="63500"/>
              <a:ext cx="3086098" cy="1543051"/>
            </a:xfrm>
            <a:custGeom>
              <a:avLst/>
              <a:gdLst/>
              <a:ahLst/>
              <a:cxnLst/>
              <a:rect l="l" t="t" r="r" b="b"/>
              <a:pathLst>
                <a:path w="3086098" h="1543051">
                  <a:moveTo>
                    <a:pt x="0" y="1543051"/>
                  </a:moveTo>
                  <a:lnTo>
                    <a:pt x="3086098" y="1543051"/>
                  </a:lnTo>
                  <a:lnTo>
                    <a:pt x="3086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63500" y="142367"/>
              <a:ext cx="3086099" cy="1543051"/>
            </a:xfrm>
            <a:custGeom>
              <a:avLst/>
              <a:gdLst/>
              <a:ahLst/>
              <a:cxnLst/>
              <a:rect l="l" t="t" r="r" b="b"/>
              <a:pathLst>
                <a:path w="3086099" h="1543051">
                  <a:moveTo>
                    <a:pt x="0" y="1543051"/>
                  </a:moveTo>
                  <a:lnTo>
                    <a:pt x="3086099" y="1543051"/>
                  </a:lnTo>
                  <a:lnTo>
                    <a:pt x="30860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369951" y="556768"/>
              <a:ext cx="2552064" cy="2552194"/>
            </a:xfrm>
            <a:custGeom>
              <a:avLst/>
              <a:gdLst/>
              <a:ahLst/>
              <a:cxnLst/>
              <a:rect l="l" t="t" r="r" b="b"/>
              <a:pathLst>
                <a:path w="2552064" h="2552194">
                  <a:moveTo>
                    <a:pt x="0" y="2552195"/>
                  </a:moveTo>
                  <a:lnTo>
                    <a:pt x="2552064" y="2552195"/>
                  </a:lnTo>
                  <a:lnTo>
                    <a:pt x="255206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3566413" y="556768"/>
              <a:ext cx="2552191" cy="2552194"/>
            </a:xfrm>
            <a:custGeom>
              <a:avLst/>
              <a:gdLst/>
              <a:ahLst/>
              <a:cxnLst/>
              <a:rect l="l" t="t" r="r" b="b"/>
              <a:pathLst>
                <a:path w="2552191" h="2552194">
                  <a:moveTo>
                    <a:pt x="0" y="2552195"/>
                  </a:moveTo>
                  <a:lnTo>
                    <a:pt x="2552191" y="2552195"/>
                  </a:lnTo>
                  <a:lnTo>
                    <a:pt x="25521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6765288" y="560578"/>
              <a:ext cx="2552191" cy="2552194"/>
            </a:xfrm>
            <a:custGeom>
              <a:avLst/>
              <a:gdLst/>
              <a:ahLst/>
              <a:cxnLst/>
              <a:rect l="l" t="t" r="r" b="b"/>
              <a:pathLst>
                <a:path w="2552191" h="2552194">
                  <a:moveTo>
                    <a:pt x="0" y="2552195"/>
                  </a:moveTo>
                  <a:lnTo>
                    <a:pt x="2552191" y="2552195"/>
                  </a:lnTo>
                  <a:lnTo>
                    <a:pt x="255219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5977126" y="1187705"/>
              <a:ext cx="883031" cy="883032"/>
            </a:xfrm>
            <a:custGeom>
              <a:avLst/>
              <a:gdLst/>
              <a:ahLst/>
              <a:cxnLst/>
              <a:rect l="l" t="t" r="r" b="b"/>
              <a:pathLst>
                <a:path w="883031" h="883032">
                  <a:moveTo>
                    <a:pt x="0" y="883032"/>
                  </a:moveTo>
                  <a:lnTo>
                    <a:pt x="883031" y="883032"/>
                  </a:lnTo>
                  <a:lnTo>
                    <a:pt x="8830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738627" y="1550798"/>
              <a:ext cx="966215" cy="966217"/>
            </a:xfrm>
            <a:custGeom>
              <a:avLst/>
              <a:gdLst/>
              <a:ahLst/>
              <a:cxnLst/>
              <a:rect l="l" t="t" r="r" b="b"/>
              <a:pathLst>
                <a:path w="966215" h="966217">
                  <a:moveTo>
                    <a:pt x="0" y="966217"/>
                  </a:moveTo>
                  <a:lnTo>
                    <a:pt x="966215" y="966217"/>
                  </a:lnTo>
                  <a:lnTo>
                    <a:pt x="9662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63500" y="1566419"/>
              <a:ext cx="856742" cy="856743"/>
            </a:xfrm>
            <a:custGeom>
              <a:avLst/>
              <a:gdLst/>
              <a:ahLst/>
              <a:cxnLst/>
              <a:rect l="l" t="t" r="r" b="b"/>
              <a:pathLst>
                <a:path w="856742" h="856743">
                  <a:moveTo>
                    <a:pt x="0" y="856743"/>
                  </a:moveTo>
                  <a:lnTo>
                    <a:pt x="856742" y="856743"/>
                  </a:lnTo>
                  <a:lnTo>
                    <a:pt x="8567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8908666" y="1566419"/>
              <a:ext cx="779018" cy="779019"/>
            </a:xfrm>
            <a:custGeom>
              <a:avLst/>
              <a:gdLst/>
              <a:ahLst/>
              <a:cxnLst/>
              <a:rect l="l" t="t" r="r" b="b"/>
              <a:pathLst>
                <a:path w="779018" h="779019">
                  <a:moveTo>
                    <a:pt x="0" y="779019"/>
                  </a:moveTo>
                  <a:lnTo>
                    <a:pt x="779017" y="779019"/>
                  </a:lnTo>
                  <a:lnTo>
                    <a:pt x="7790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3257168" y="1942467"/>
              <a:ext cx="3086099" cy="1543051"/>
            </a:xfrm>
            <a:custGeom>
              <a:avLst/>
              <a:gdLst/>
              <a:ahLst/>
              <a:cxnLst/>
              <a:rect l="l" t="t" r="r" b="b"/>
              <a:pathLst>
                <a:path w="3086099" h="1543051">
                  <a:moveTo>
                    <a:pt x="0" y="1543051"/>
                  </a:moveTo>
                  <a:lnTo>
                    <a:pt x="3086099" y="1543051"/>
                  </a:lnTo>
                  <a:lnTo>
                    <a:pt x="30860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1109989" y="2061762"/>
            <a:ext cx="6955526" cy="2331415"/>
            <a:chOff x="0" y="0"/>
            <a:chExt cx="6955523" cy="2331415"/>
          </a:xfrm>
        </p:grpSpPr>
        <p:sp>
          <p:nvSpPr>
            <p:cNvPr id="25" name="Freeform 25"/>
            <p:cNvSpPr/>
            <p:nvPr/>
          </p:nvSpPr>
          <p:spPr>
            <a:xfrm>
              <a:off x="2499740" y="1263017"/>
              <a:ext cx="53086" cy="53086"/>
            </a:xfrm>
            <a:custGeom>
              <a:avLst/>
              <a:gdLst/>
              <a:ahLst/>
              <a:cxnLst/>
              <a:rect l="l" t="t" r="r" b="b"/>
              <a:pathLst>
                <a:path w="53086" h="53086">
                  <a:moveTo>
                    <a:pt x="53086" y="26543"/>
                  </a:moveTo>
                  <a:cubicBezTo>
                    <a:pt x="53086" y="30099"/>
                    <a:pt x="52451" y="33401"/>
                    <a:pt x="51054" y="36703"/>
                  </a:cubicBezTo>
                  <a:cubicBezTo>
                    <a:pt x="49657" y="40005"/>
                    <a:pt x="47752" y="42799"/>
                    <a:pt x="45339" y="45339"/>
                  </a:cubicBezTo>
                  <a:cubicBezTo>
                    <a:pt x="42926" y="47879"/>
                    <a:pt x="40005" y="49784"/>
                    <a:pt x="36703" y="51054"/>
                  </a:cubicBezTo>
                  <a:cubicBezTo>
                    <a:pt x="33401" y="52324"/>
                    <a:pt x="30099" y="53086"/>
                    <a:pt x="26543" y="53086"/>
                  </a:cubicBezTo>
                  <a:cubicBezTo>
                    <a:pt x="22987" y="53086"/>
                    <a:pt x="19685" y="52451"/>
                    <a:pt x="16383" y="51054"/>
                  </a:cubicBezTo>
                  <a:cubicBezTo>
                    <a:pt x="13081" y="49657"/>
                    <a:pt x="10287" y="47752"/>
                    <a:pt x="7747" y="45339"/>
                  </a:cubicBezTo>
                  <a:cubicBezTo>
                    <a:pt x="5207" y="42926"/>
                    <a:pt x="3302" y="40005"/>
                    <a:pt x="2032" y="36703"/>
                  </a:cubicBezTo>
                  <a:cubicBezTo>
                    <a:pt x="762" y="33401"/>
                    <a:pt x="0" y="30099"/>
                    <a:pt x="0" y="26543"/>
                  </a:cubicBezTo>
                  <a:cubicBezTo>
                    <a:pt x="0" y="22987"/>
                    <a:pt x="635" y="19685"/>
                    <a:pt x="2032" y="16383"/>
                  </a:cubicBezTo>
                  <a:cubicBezTo>
                    <a:pt x="3429" y="13081"/>
                    <a:pt x="5334" y="10287"/>
                    <a:pt x="7747" y="7747"/>
                  </a:cubicBezTo>
                  <a:cubicBezTo>
                    <a:pt x="10160" y="5207"/>
                    <a:pt x="13081" y="3302"/>
                    <a:pt x="16383" y="2032"/>
                  </a:cubicBezTo>
                  <a:cubicBezTo>
                    <a:pt x="19685" y="762"/>
                    <a:pt x="22987" y="0"/>
                    <a:pt x="26543" y="0"/>
                  </a:cubicBezTo>
                  <a:cubicBezTo>
                    <a:pt x="30099" y="0"/>
                    <a:pt x="33401" y="635"/>
                    <a:pt x="36703" y="2032"/>
                  </a:cubicBezTo>
                  <a:cubicBezTo>
                    <a:pt x="40005" y="3429"/>
                    <a:pt x="42799" y="5334"/>
                    <a:pt x="45339" y="7747"/>
                  </a:cubicBezTo>
                  <a:cubicBezTo>
                    <a:pt x="47879" y="10160"/>
                    <a:pt x="49784" y="13081"/>
                    <a:pt x="51054" y="16383"/>
                  </a:cubicBezTo>
                  <a:cubicBezTo>
                    <a:pt x="52324" y="19685"/>
                    <a:pt x="53086" y="22987"/>
                    <a:pt x="53086" y="265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2499740" y="1468376"/>
              <a:ext cx="53086" cy="53086"/>
            </a:xfrm>
            <a:custGeom>
              <a:avLst/>
              <a:gdLst/>
              <a:ahLst/>
              <a:cxnLst/>
              <a:rect l="l" t="t" r="r" b="b"/>
              <a:pathLst>
                <a:path w="53086" h="53086">
                  <a:moveTo>
                    <a:pt x="53086" y="26543"/>
                  </a:moveTo>
                  <a:cubicBezTo>
                    <a:pt x="53086" y="30099"/>
                    <a:pt x="52451" y="33401"/>
                    <a:pt x="51054" y="36703"/>
                  </a:cubicBezTo>
                  <a:cubicBezTo>
                    <a:pt x="49657" y="40005"/>
                    <a:pt x="47752" y="42799"/>
                    <a:pt x="45339" y="45339"/>
                  </a:cubicBezTo>
                  <a:cubicBezTo>
                    <a:pt x="42926" y="47879"/>
                    <a:pt x="40005" y="49784"/>
                    <a:pt x="36703" y="51054"/>
                  </a:cubicBezTo>
                  <a:cubicBezTo>
                    <a:pt x="33401" y="52324"/>
                    <a:pt x="30099" y="53086"/>
                    <a:pt x="26543" y="53086"/>
                  </a:cubicBezTo>
                  <a:cubicBezTo>
                    <a:pt x="22987" y="53086"/>
                    <a:pt x="19685" y="52451"/>
                    <a:pt x="16383" y="51054"/>
                  </a:cubicBezTo>
                  <a:cubicBezTo>
                    <a:pt x="13081" y="49657"/>
                    <a:pt x="10287" y="47752"/>
                    <a:pt x="7747" y="45339"/>
                  </a:cubicBezTo>
                  <a:cubicBezTo>
                    <a:pt x="5207" y="42926"/>
                    <a:pt x="3302" y="40005"/>
                    <a:pt x="2032" y="36703"/>
                  </a:cubicBezTo>
                  <a:cubicBezTo>
                    <a:pt x="762" y="33401"/>
                    <a:pt x="0" y="30099"/>
                    <a:pt x="0" y="26543"/>
                  </a:cubicBezTo>
                  <a:cubicBezTo>
                    <a:pt x="0" y="22987"/>
                    <a:pt x="635" y="19685"/>
                    <a:pt x="2032" y="16383"/>
                  </a:cubicBezTo>
                  <a:cubicBezTo>
                    <a:pt x="3429" y="13081"/>
                    <a:pt x="5334" y="10287"/>
                    <a:pt x="7747" y="7747"/>
                  </a:cubicBezTo>
                  <a:cubicBezTo>
                    <a:pt x="10160" y="5207"/>
                    <a:pt x="13081" y="3302"/>
                    <a:pt x="16383" y="2032"/>
                  </a:cubicBezTo>
                  <a:cubicBezTo>
                    <a:pt x="19685" y="762"/>
                    <a:pt x="22987" y="0"/>
                    <a:pt x="26543" y="0"/>
                  </a:cubicBezTo>
                  <a:cubicBezTo>
                    <a:pt x="30099" y="0"/>
                    <a:pt x="33401" y="635"/>
                    <a:pt x="36703" y="2032"/>
                  </a:cubicBezTo>
                  <a:cubicBezTo>
                    <a:pt x="40005" y="3429"/>
                    <a:pt x="42799" y="5334"/>
                    <a:pt x="45339" y="7747"/>
                  </a:cubicBezTo>
                  <a:cubicBezTo>
                    <a:pt x="47879" y="10160"/>
                    <a:pt x="49784" y="13081"/>
                    <a:pt x="51054" y="16383"/>
                  </a:cubicBezTo>
                  <a:cubicBezTo>
                    <a:pt x="52324" y="19685"/>
                    <a:pt x="53086" y="22987"/>
                    <a:pt x="53086" y="265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2499740" y="1673608"/>
              <a:ext cx="53086" cy="53086"/>
            </a:xfrm>
            <a:custGeom>
              <a:avLst/>
              <a:gdLst/>
              <a:ahLst/>
              <a:cxnLst/>
              <a:rect l="l" t="t" r="r" b="b"/>
              <a:pathLst>
                <a:path w="53086" h="53086">
                  <a:moveTo>
                    <a:pt x="53086" y="26543"/>
                  </a:moveTo>
                  <a:cubicBezTo>
                    <a:pt x="53086" y="30099"/>
                    <a:pt x="52451" y="33401"/>
                    <a:pt x="51054" y="36703"/>
                  </a:cubicBezTo>
                  <a:cubicBezTo>
                    <a:pt x="49657" y="40005"/>
                    <a:pt x="47752" y="42799"/>
                    <a:pt x="45339" y="45339"/>
                  </a:cubicBezTo>
                  <a:cubicBezTo>
                    <a:pt x="42926" y="47879"/>
                    <a:pt x="40005" y="49784"/>
                    <a:pt x="36703" y="51054"/>
                  </a:cubicBezTo>
                  <a:cubicBezTo>
                    <a:pt x="33401" y="52324"/>
                    <a:pt x="30099" y="53086"/>
                    <a:pt x="26543" y="53086"/>
                  </a:cubicBezTo>
                  <a:cubicBezTo>
                    <a:pt x="22987" y="53086"/>
                    <a:pt x="19685" y="52451"/>
                    <a:pt x="16383" y="51054"/>
                  </a:cubicBezTo>
                  <a:cubicBezTo>
                    <a:pt x="13081" y="49657"/>
                    <a:pt x="10287" y="47752"/>
                    <a:pt x="7747" y="45339"/>
                  </a:cubicBezTo>
                  <a:cubicBezTo>
                    <a:pt x="5207" y="42926"/>
                    <a:pt x="3302" y="40005"/>
                    <a:pt x="2032" y="36703"/>
                  </a:cubicBezTo>
                  <a:cubicBezTo>
                    <a:pt x="762" y="33401"/>
                    <a:pt x="0" y="30099"/>
                    <a:pt x="0" y="26543"/>
                  </a:cubicBezTo>
                  <a:cubicBezTo>
                    <a:pt x="0" y="22987"/>
                    <a:pt x="635" y="19685"/>
                    <a:pt x="2032" y="16383"/>
                  </a:cubicBezTo>
                  <a:cubicBezTo>
                    <a:pt x="3429" y="13081"/>
                    <a:pt x="5334" y="10287"/>
                    <a:pt x="7747" y="7747"/>
                  </a:cubicBezTo>
                  <a:cubicBezTo>
                    <a:pt x="10160" y="5207"/>
                    <a:pt x="13081" y="3302"/>
                    <a:pt x="16383" y="2032"/>
                  </a:cubicBezTo>
                  <a:cubicBezTo>
                    <a:pt x="19685" y="762"/>
                    <a:pt x="22987" y="0"/>
                    <a:pt x="26543" y="0"/>
                  </a:cubicBezTo>
                  <a:cubicBezTo>
                    <a:pt x="30099" y="0"/>
                    <a:pt x="33401" y="635"/>
                    <a:pt x="36703" y="2032"/>
                  </a:cubicBezTo>
                  <a:cubicBezTo>
                    <a:pt x="40005" y="3429"/>
                    <a:pt x="42799" y="5334"/>
                    <a:pt x="45339" y="7747"/>
                  </a:cubicBezTo>
                  <a:cubicBezTo>
                    <a:pt x="47879" y="10160"/>
                    <a:pt x="49784" y="13081"/>
                    <a:pt x="51054" y="16383"/>
                  </a:cubicBezTo>
                  <a:cubicBezTo>
                    <a:pt x="52324" y="19685"/>
                    <a:pt x="53086" y="22987"/>
                    <a:pt x="53086" y="2654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63500" y="63500"/>
              <a:ext cx="2204465" cy="2204469"/>
            </a:xfrm>
            <a:custGeom>
              <a:avLst/>
              <a:gdLst/>
              <a:ahLst/>
              <a:cxnLst/>
              <a:rect l="l" t="t" r="r" b="b"/>
              <a:pathLst>
                <a:path w="2204465" h="2204469">
                  <a:moveTo>
                    <a:pt x="0" y="2204469"/>
                  </a:moveTo>
                  <a:lnTo>
                    <a:pt x="2204465" y="2204469"/>
                  </a:lnTo>
                  <a:lnTo>
                    <a:pt x="220446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2038984" y="964312"/>
              <a:ext cx="4853049" cy="1228092"/>
            </a:xfrm>
            <a:custGeom>
              <a:avLst/>
              <a:gdLst/>
              <a:ahLst/>
              <a:cxnLst/>
              <a:rect l="l" t="t" r="r" b="b"/>
              <a:pathLst>
                <a:path w="4853049" h="1228092">
                  <a:moveTo>
                    <a:pt x="0" y="1228092"/>
                  </a:moveTo>
                  <a:lnTo>
                    <a:pt x="4853050" y="1228092"/>
                  </a:lnTo>
                  <a:lnTo>
                    <a:pt x="48530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1874960" y="4689100"/>
            <a:ext cx="6190555" cy="1699050"/>
            <a:chOff x="0" y="0"/>
            <a:chExt cx="6190551" cy="1699057"/>
          </a:xfrm>
        </p:grpSpPr>
        <p:sp>
          <p:nvSpPr>
            <p:cNvPr id="31" name="Freeform 31"/>
            <p:cNvSpPr/>
            <p:nvPr/>
          </p:nvSpPr>
          <p:spPr>
            <a:xfrm>
              <a:off x="1786761" y="517145"/>
              <a:ext cx="51308" cy="51308"/>
            </a:xfrm>
            <a:custGeom>
              <a:avLst/>
              <a:gdLst/>
              <a:ahLst/>
              <a:cxnLst/>
              <a:rect l="l" t="t" r="r" b="b"/>
              <a:pathLst>
                <a:path w="51308" h="51308">
                  <a:moveTo>
                    <a:pt x="51308" y="25654"/>
                  </a:moveTo>
                  <a:cubicBezTo>
                    <a:pt x="51308" y="29083"/>
                    <a:pt x="50673" y="32385"/>
                    <a:pt x="49403" y="35433"/>
                  </a:cubicBezTo>
                  <a:cubicBezTo>
                    <a:pt x="48133" y="38481"/>
                    <a:pt x="46228" y="41402"/>
                    <a:pt x="43815" y="43815"/>
                  </a:cubicBezTo>
                  <a:cubicBezTo>
                    <a:pt x="41402" y="46228"/>
                    <a:pt x="38608" y="48133"/>
                    <a:pt x="35433" y="49403"/>
                  </a:cubicBezTo>
                  <a:cubicBezTo>
                    <a:pt x="32258" y="50673"/>
                    <a:pt x="28956" y="51308"/>
                    <a:pt x="25654" y="51308"/>
                  </a:cubicBezTo>
                  <a:cubicBezTo>
                    <a:pt x="22352" y="51308"/>
                    <a:pt x="18923" y="50673"/>
                    <a:pt x="15875" y="49403"/>
                  </a:cubicBezTo>
                  <a:cubicBezTo>
                    <a:pt x="12827" y="48133"/>
                    <a:pt x="9906" y="46228"/>
                    <a:pt x="7493" y="43815"/>
                  </a:cubicBezTo>
                  <a:cubicBezTo>
                    <a:pt x="5080" y="41402"/>
                    <a:pt x="3175" y="38608"/>
                    <a:pt x="1905" y="35433"/>
                  </a:cubicBezTo>
                  <a:cubicBezTo>
                    <a:pt x="635" y="32258"/>
                    <a:pt x="0" y="28956"/>
                    <a:pt x="0" y="25654"/>
                  </a:cubicBezTo>
                  <a:cubicBezTo>
                    <a:pt x="0" y="22352"/>
                    <a:pt x="635" y="18923"/>
                    <a:pt x="1905" y="15875"/>
                  </a:cubicBezTo>
                  <a:cubicBezTo>
                    <a:pt x="3175" y="12827"/>
                    <a:pt x="5080" y="9906"/>
                    <a:pt x="7493" y="7493"/>
                  </a:cubicBezTo>
                  <a:cubicBezTo>
                    <a:pt x="9906" y="5080"/>
                    <a:pt x="12700" y="3175"/>
                    <a:pt x="15875" y="1905"/>
                  </a:cubicBezTo>
                  <a:cubicBezTo>
                    <a:pt x="19050" y="635"/>
                    <a:pt x="22352" y="0"/>
                    <a:pt x="25654" y="0"/>
                  </a:cubicBezTo>
                  <a:cubicBezTo>
                    <a:pt x="28956" y="0"/>
                    <a:pt x="32385" y="635"/>
                    <a:pt x="35433" y="1905"/>
                  </a:cubicBezTo>
                  <a:cubicBezTo>
                    <a:pt x="38481" y="3175"/>
                    <a:pt x="41402" y="5080"/>
                    <a:pt x="43815" y="7493"/>
                  </a:cubicBezTo>
                  <a:cubicBezTo>
                    <a:pt x="46228" y="9906"/>
                    <a:pt x="48133" y="12700"/>
                    <a:pt x="49403" y="15875"/>
                  </a:cubicBezTo>
                  <a:cubicBezTo>
                    <a:pt x="50673" y="19050"/>
                    <a:pt x="51308" y="22352"/>
                    <a:pt x="51308" y="256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1786761" y="716027"/>
              <a:ext cx="51308" cy="51308"/>
            </a:xfrm>
            <a:custGeom>
              <a:avLst/>
              <a:gdLst/>
              <a:ahLst/>
              <a:cxnLst/>
              <a:rect l="l" t="t" r="r" b="b"/>
              <a:pathLst>
                <a:path w="51308" h="51308">
                  <a:moveTo>
                    <a:pt x="51308" y="25654"/>
                  </a:moveTo>
                  <a:cubicBezTo>
                    <a:pt x="51308" y="29083"/>
                    <a:pt x="50673" y="32385"/>
                    <a:pt x="49403" y="35433"/>
                  </a:cubicBezTo>
                  <a:cubicBezTo>
                    <a:pt x="48133" y="38481"/>
                    <a:pt x="46228" y="41402"/>
                    <a:pt x="43815" y="43815"/>
                  </a:cubicBezTo>
                  <a:cubicBezTo>
                    <a:pt x="41402" y="46228"/>
                    <a:pt x="38608" y="48133"/>
                    <a:pt x="35433" y="49403"/>
                  </a:cubicBezTo>
                  <a:cubicBezTo>
                    <a:pt x="32258" y="50673"/>
                    <a:pt x="28956" y="51308"/>
                    <a:pt x="25654" y="51308"/>
                  </a:cubicBezTo>
                  <a:cubicBezTo>
                    <a:pt x="22352" y="51308"/>
                    <a:pt x="18923" y="50673"/>
                    <a:pt x="15875" y="49403"/>
                  </a:cubicBezTo>
                  <a:cubicBezTo>
                    <a:pt x="12827" y="48133"/>
                    <a:pt x="9906" y="46228"/>
                    <a:pt x="7493" y="43815"/>
                  </a:cubicBezTo>
                  <a:cubicBezTo>
                    <a:pt x="5080" y="41402"/>
                    <a:pt x="3175" y="38608"/>
                    <a:pt x="1905" y="35433"/>
                  </a:cubicBezTo>
                  <a:cubicBezTo>
                    <a:pt x="635" y="32258"/>
                    <a:pt x="0" y="28956"/>
                    <a:pt x="0" y="25654"/>
                  </a:cubicBezTo>
                  <a:cubicBezTo>
                    <a:pt x="0" y="22352"/>
                    <a:pt x="635" y="18923"/>
                    <a:pt x="1905" y="15875"/>
                  </a:cubicBezTo>
                  <a:cubicBezTo>
                    <a:pt x="3175" y="12827"/>
                    <a:pt x="5080" y="9906"/>
                    <a:pt x="7493" y="7493"/>
                  </a:cubicBezTo>
                  <a:cubicBezTo>
                    <a:pt x="9906" y="5080"/>
                    <a:pt x="12700" y="3175"/>
                    <a:pt x="15875" y="1905"/>
                  </a:cubicBezTo>
                  <a:cubicBezTo>
                    <a:pt x="19050" y="635"/>
                    <a:pt x="22352" y="0"/>
                    <a:pt x="25654" y="0"/>
                  </a:cubicBezTo>
                  <a:cubicBezTo>
                    <a:pt x="28956" y="0"/>
                    <a:pt x="32385" y="635"/>
                    <a:pt x="35433" y="1905"/>
                  </a:cubicBezTo>
                  <a:cubicBezTo>
                    <a:pt x="38481" y="3175"/>
                    <a:pt x="41402" y="5080"/>
                    <a:pt x="43815" y="7493"/>
                  </a:cubicBezTo>
                  <a:cubicBezTo>
                    <a:pt x="46228" y="9906"/>
                    <a:pt x="48133" y="12700"/>
                    <a:pt x="49403" y="15875"/>
                  </a:cubicBezTo>
                  <a:cubicBezTo>
                    <a:pt x="50673" y="19050"/>
                    <a:pt x="51308" y="22352"/>
                    <a:pt x="51308" y="256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1786761" y="914909"/>
              <a:ext cx="51308" cy="51308"/>
            </a:xfrm>
            <a:custGeom>
              <a:avLst/>
              <a:gdLst/>
              <a:ahLst/>
              <a:cxnLst/>
              <a:rect l="l" t="t" r="r" b="b"/>
              <a:pathLst>
                <a:path w="51308" h="51308">
                  <a:moveTo>
                    <a:pt x="51308" y="25654"/>
                  </a:moveTo>
                  <a:cubicBezTo>
                    <a:pt x="51308" y="29083"/>
                    <a:pt x="50673" y="32385"/>
                    <a:pt x="49403" y="35433"/>
                  </a:cubicBezTo>
                  <a:cubicBezTo>
                    <a:pt x="48133" y="38481"/>
                    <a:pt x="46228" y="41402"/>
                    <a:pt x="43815" y="43815"/>
                  </a:cubicBezTo>
                  <a:cubicBezTo>
                    <a:pt x="41402" y="46228"/>
                    <a:pt x="38608" y="48133"/>
                    <a:pt x="35433" y="49403"/>
                  </a:cubicBezTo>
                  <a:cubicBezTo>
                    <a:pt x="32258" y="50673"/>
                    <a:pt x="28956" y="51308"/>
                    <a:pt x="25654" y="51308"/>
                  </a:cubicBezTo>
                  <a:cubicBezTo>
                    <a:pt x="22352" y="51308"/>
                    <a:pt x="18923" y="50673"/>
                    <a:pt x="15875" y="49403"/>
                  </a:cubicBezTo>
                  <a:cubicBezTo>
                    <a:pt x="12827" y="48133"/>
                    <a:pt x="9906" y="46228"/>
                    <a:pt x="7493" y="43815"/>
                  </a:cubicBezTo>
                  <a:cubicBezTo>
                    <a:pt x="5080" y="41402"/>
                    <a:pt x="3175" y="38608"/>
                    <a:pt x="1905" y="35433"/>
                  </a:cubicBezTo>
                  <a:cubicBezTo>
                    <a:pt x="635" y="32258"/>
                    <a:pt x="0" y="28956"/>
                    <a:pt x="0" y="25654"/>
                  </a:cubicBezTo>
                  <a:cubicBezTo>
                    <a:pt x="0" y="22352"/>
                    <a:pt x="635" y="18923"/>
                    <a:pt x="1905" y="15875"/>
                  </a:cubicBezTo>
                  <a:cubicBezTo>
                    <a:pt x="3175" y="12827"/>
                    <a:pt x="5080" y="9906"/>
                    <a:pt x="7493" y="7493"/>
                  </a:cubicBezTo>
                  <a:cubicBezTo>
                    <a:pt x="9906" y="5080"/>
                    <a:pt x="12700" y="3175"/>
                    <a:pt x="15875" y="1905"/>
                  </a:cubicBezTo>
                  <a:cubicBezTo>
                    <a:pt x="19050" y="635"/>
                    <a:pt x="22352" y="0"/>
                    <a:pt x="25654" y="0"/>
                  </a:cubicBezTo>
                  <a:cubicBezTo>
                    <a:pt x="28956" y="0"/>
                    <a:pt x="32385" y="635"/>
                    <a:pt x="35433" y="1905"/>
                  </a:cubicBezTo>
                  <a:cubicBezTo>
                    <a:pt x="38481" y="3175"/>
                    <a:pt x="41402" y="5080"/>
                    <a:pt x="43815" y="7493"/>
                  </a:cubicBezTo>
                  <a:cubicBezTo>
                    <a:pt x="46228" y="9906"/>
                    <a:pt x="48133" y="12700"/>
                    <a:pt x="49403" y="15875"/>
                  </a:cubicBezTo>
                  <a:cubicBezTo>
                    <a:pt x="50673" y="19050"/>
                    <a:pt x="51308" y="22352"/>
                    <a:pt x="51308" y="2565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63500" y="63500"/>
              <a:ext cx="1572004" cy="1572008"/>
            </a:xfrm>
            <a:custGeom>
              <a:avLst/>
              <a:gdLst/>
              <a:ahLst/>
              <a:cxnLst/>
              <a:rect l="l" t="t" r="r" b="b"/>
              <a:pathLst>
                <a:path w="1572004" h="1572008">
                  <a:moveTo>
                    <a:pt x="0" y="1572008"/>
                  </a:moveTo>
                  <a:lnTo>
                    <a:pt x="1572004" y="1572008"/>
                  </a:lnTo>
                  <a:lnTo>
                    <a:pt x="15720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260350" y="253619"/>
              <a:ext cx="1178305" cy="1169671"/>
            </a:xfrm>
            <a:custGeom>
              <a:avLst/>
              <a:gdLst/>
              <a:ahLst/>
              <a:cxnLst/>
              <a:rect l="l" t="t" r="r" b="b"/>
              <a:pathLst>
                <a:path w="1178305" h="1169671">
                  <a:moveTo>
                    <a:pt x="0" y="1169672"/>
                  </a:moveTo>
                  <a:lnTo>
                    <a:pt x="1178305" y="1169672"/>
                  </a:lnTo>
                  <a:lnTo>
                    <a:pt x="11783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1274063" y="235458"/>
              <a:ext cx="4853047" cy="1228218"/>
            </a:xfrm>
            <a:custGeom>
              <a:avLst/>
              <a:gdLst/>
              <a:ahLst/>
              <a:cxnLst/>
              <a:rect l="l" t="t" r="r" b="b"/>
              <a:pathLst>
                <a:path w="4853047" h="1228218">
                  <a:moveTo>
                    <a:pt x="0" y="1228219"/>
                  </a:moveTo>
                  <a:lnTo>
                    <a:pt x="4853047" y="1228219"/>
                  </a:lnTo>
                  <a:lnTo>
                    <a:pt x="48530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3494013" y="9001949"/>
            <a:ext cx="56429" cy="56429"/>
            <a:chOff x="0" y="0"/>
            <a:chExt cx="51295" cy="5129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1310" cy="51310"/>
            </a:xfrm>
            <a:custGeom>
              <a:avLst/>
              <a:gdLst/>
              <a:ahLst/>
              <a:cxnLst/>
              <a:rect l="l" t="t" r="r" b="b"/>
              <a:pathLst>
                <a:path w="51310" h="51310">
                  <a:moveTo>
                    <a:pt x="51310" y="25655"/>
                  </a:moveTo>
                  <a:cubicBezTo>
                    <a:pt x="51310" y="29084"/>
                    <a:pt x="50675" y="32386"/>
                    <a:pt x="49405" y="35435"/>
                  </a:cubicBezTo>
                  <a:cubicBezTo>
                    <a:pt x="48135" y="38483"/>
                    <a:pt x="46230" y="41404"/>
                    <a:pt x="43817" y="43817"/>
                  </a:cubicBezTo>
                  <a:cubicBezTo>
                    <a:pt x="41404" y="46230"/>
                    <a:pt x="38610" y="48135"/>
                    <a:pt x="35435" y="49405"/>
                  </a:cubicBezTo>
                  <a:cubicBezTo>
                    <a:pt x="32259" y="50675"/>
                    <a:pt x="28957" y="51310"/>
                    <a:pt x="25655" y="51310"/>
                  </a:cubicBezTo>
                  <a:cubicBezTo>
                    <a:pt x="22353" y="51310"/>
                    <a:pt x="18924" y="50675"/>
                    <a:pt x="15876" y="49405"/>
                  </a:cubicBezTo>
                  <a:cubicBezTo>
                    <a:pt x="12828" y="48135"/>
                    <a:pt x="9906" y="46230"/>
                    <a:pt x="7493" y="43817"/>
                  </a:cubicBezTo>
                  <a:cubicBezTo>
                    <a:pt x="5080" y="41404"/>
                    <a:pt x="3175" y="38610"/>
                    <a:pt x="1905" y="35435"/>
                  </a:cubicBezTo>
                  <a:cubicBezTo>
                    <a:pt x="635" y="32259"/>
                    <a:pt x="0" y="29084"/>
                    <a:pt x="0" y="25655"/>
                  </a:cubicBezTo>
                  <a:cubicBezTo>
                    <a:pt x="0" y="22226"/>
                    <a:pt x="635" y="18924"/>
                    <a:pt x="1905" y="15876"/>
                  </a:cubicBezTo>
                  <a:cubicBezTo>
                    <a:pt x="3175" y="12828"/>
                    <a:pt x="5080" y="9906"/>
                    <a:pt x="7493" y="7493"/>
                  </a:cubicBezTo>
                  <a:cubicBezTo>
                    <a:pt x="9906" y="5080"/>
                    <a:pt x="12701" y="3302"/>
                    <a:pt x="15876" y="1905"/>
                  </a:cubicBezTo>
                  <a:cubicBezTo>
                    <a:pt x="19051" y="508"/>
                    <a:pt x="22226" y="0"/>
                    <a:pt x="25655" y="0"/>
                  </a:cubicBezTo>
                  <a:cubicBezTo>
                    <a:pt x="29084" y="0"/>
                    <a:pt x="32386" y="635"/>
                    <a:pt x="35435" y="1905"/>
                  </a:cubicBezTo>
                  <a:cubicBezTo>
                    <a:pt x="38483" y="3175"/>
                    <a:pt x="41404" y="5080"/>
                    <a:pt x="43817" y="7493"/>
                  </a:cubicBezTo>
                  <a:cubicBezTo>
                    <a:pt x="46230" y="9906"/>
                    <a:pt x="48135" y="12701"/>
                    <a:pt x="49405" y="15876"/>
                  </a:cubicBezTo>
                  <a:cubicBezTo>
                    <a:pt x="50675" y="19051"/>
                    <a:pt x="51310" y="22353"/>
                    <a:pt x="51310" y="2565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3494013" y="9220625"/>
            <a:ext cx="56429" cy="56429"/>
            <a:chOff x="0" y="0"/>
            <a:chExt cx="51295" cy="5129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1310" cy="51310"/>
            </a:xfrm>
            <a:custGeom>
              <a:avLst/>
              <a:gdLst/>
              <a:ahLst/>
              <a:cxnLst/>
              <a:rect l="l" t="t" r="r" b="b"/>
              <a:pathLst>
                <a:path w="51310" h="51310">
                  <a:moveTo>
                    <a:pt x="51310" y="25655"/>
                  </a:moveTo>
                  <a:cubicBezTo>
                    <a:pt x="51310" y="29084"/>
                    <a:pt x="50675" y="32386"/>
                    <a:pt x="49405" y="35435"/>
                  </a:cubicBezTo>
                  <a:cubicBezTo>
                    <a:pt x="48135" y="38483"/>
                    <a:pt x="46230" y="41404"/>
                    <a:pt x="43817" y="43817"/>
                  </a:cubicBezTo>
                  <a:cubicBezTo>
                    <a:pt x="41404" y="46230"/>
                    <a:pt x="38610" y="48135"/>
                    <a:pt x="35435" y="49405"/>
                  </a:cubicBezTo>
                  <a:cubicBezTo>
                    <a:pt x="32259" y="50675"/>
                    <a:pt x="28957" y="51310"/>
                    <a:pt x="25655" y="51310"/>
                  </a:cubicBezTo>
                  <a:cubicBezTo>
                    <a:pt x="22353" y="51310"/>
                    <a:pt x="18924" y="50675"/>
                    <a:pt x="15876" y="49405"/>
                  </a:cubicBezTo>
                  <a:cubicBezTo>
                    <a:pt x="12828" y="48135"/>
                    <a:pt x="9906" y="46230"/>
                    <a:pt x="7493" y="43817"/>
                  </a:cubicBezTo>
                  <a:cubicBezTo>
                    <a:pt x="5080" y="41404"/>
                    <a:pt x="3175" y="38610"/>
                    <a:pt x="1905" y="35435"/>
                  </a:cubicBezTo>
                  <a:cubicBezTo>
                    <a:pt x="635" y="32259"/>
                    <a:pt x="0" y="29084"/>
                    <a:pt x="0" y="25655"/>
                  </a:cubicBezTo>
                  <a:cubicBezTo>
                    <a:pt x="0" y="22226"/>
                    <a:pt x="635" y="18924"/>
                    <a:pt x="1905" y="15876"/>
                  </a:cubicBezTo>
                  <a:cubicBezTo>
                    <a:pt x="3175" y="12828"/>
                    <a:pt x="5080" y="9906"/>
                    <a:pt x="7493" y="7493"/>
                  </a:cubicBezTo>
                  <a:cubicBezTo>
                    <a:pt x="9906" y="5080"/>
                    <a:pt x="12701" y="3302"/>
                    <a:pt x="15876" y="1905"/>
                  </a:cubicBezTo>
                  <a:cubicBezTo>
                    <a:pt x="19051" y="508"/>
                    <a:pt x="22226" y="0"/>
                    <a:pt x="25655" y="0"/>
                  </a:cubicBezTo>
                  <a:cubicBezTo>
                    <a:pt x="29084" y="0"/>
                    <a:pt x="32386" y="635"/>
                    <a:pt x="35435" y="1905"/>
                  </a:cubicBezTo>
                  <a:cubicBezTo>
                    <a:pt x="38483" y="3175"/>
                    <a:pt x="41404" y="5080"/>
                    <a:pt x="43817" y="7493"/>
                  </a:cubicBezTo>
                  <a:cubicBezTo>
                    <a:pt x="46230" y="9906"/>
                    <a:pt x="48135" y="12701"/>
                    <a:pt x="49405" y="15876"/>
                  </a:cubicBezTo>
                  <a:cubicBezTo>
                    <a:pt x="50675" y="19051"/>
                    <a:pt x="51310" y="22353"/>
                    <a:pt x="51310" y="2565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1" name="Freeform 41"/>
          <p:cNvSpPr/>
          <p:nvPr/>
        </p:nvSpPr>
        <p:spPr>
          <a:xfrm>
            <a:off x="14849486" y="198390"/>
            <a:ext cx="3119616" cy="1644297"/>
          </a:xfrm>
          <a:custGeom>
            <a:avLst/>
            <a:gdLst/>
            <a:ahLst/>
            <a:cxnLst/>
            <a:rect l="l" t="t" r="r" b="b"/>
            <a:pathLst>
              <a:path w="3119616" h="1644297">
                <a:moveTo>
                  <a:pt x="0" y="0"/>
                </a:moveTo>
                <a:lnTo>
                  <a:pt x="3119616" y="0"/>
                </a:lnTo>
                <a:lnTo>
                  <a:pt x="3119616" y="1644297"/>
                </a:lnTo>
                <a:lnTo>
                  <a:pt x="0" y="164429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4996091" y="362788"/>
            <a:ext cx="8673122" cy="102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8"/>
              </a:lnSpc>
            </a:pPr>
            <a:r>
              <a:rPr lang="en-US" sz="5999" b="1">
                <a:solidFill>
                  <a:srgbClr val="3D25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IMPACT AND BENEFITS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097304" y="6779781"/>
            <a:ext cx="2683102" cy="391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Fair &amp; Need-Based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390338" y="7178631"/>
            <a:ext cx="53959" cy="262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8"/>
              </a:lnSpc>
            </a:pPr>
            <a:r>
              <a:rPr lang="en-US" sz="149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790476" y="8367797"/>
            <a:ext cx="3255225" cy="391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Verified &amp; Transparent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446802" y="8816740"/>
            <a:ext cx="46777" cy="242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810126" y="8304785"/>
            <a:ext cx="4415326" cy="830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4"/>
              </a:lnSpc>
            </a:pPr>
            <a:r>
              <a:rPr lang="en-US" sz="2256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Low-Cost &amp; Scalable</a:t>
            </a:r>
          </a:p>
          <a:p>
            <a:pPr algn="ctr">
              <a:lnSpc>
                <a:spcPts val="1894"/>
              </a:lnSpc>
            </a:pPr>
            <a:r>
              <a:rPr lang="en-US" sz="164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Built on Google Workspace for easy institutional deployment.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646318" y="8645042"/>
            <a:ext cx="46777" cy="242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400361" y="8780474"/>
            <a:ext cx="4025928" cy="534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6"/>
              </a:lnSpc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Address</a:t>
            </a:r>
            <a:r>
              <a:rPr lang="en-US" sz="1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verification</a:t>
            </a:r>
            <a:r>
              <a:rPr lang="en-US" sz="1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  <a:r>
              <a:rPr lang="en-US" sz="1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explainable</a:t>
            </a:r>
            <a:r>
              <a:rPr lang="en-US" sz="1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allocation decisions.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288803" y="7130889"/>
            <a:ext cx="3710394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Apply → Verify → Allocate 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→ Pay → Register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693095" y="6770256"/>
            <a:ext cx="2921496" cy="3656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9"/>
              </a:lnSpc>
            </a:pPr>
            <a:r>
              <a:rPr lang="en-US" sz="214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End-to-End Digital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65976" y="7308142"/>
            <a:ext cx="1396575" cy="1451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2399" b="1">
                <a:solidFill>
                  <a:srgbClr val="E5EBE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WHY CHOOSE Hostel 360?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744924" y="7207206"/>
            <a:ext cx="3517449" cy="535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Moves beyond first-come-first-served allocation.</a:t>
            </a:r>
          </a:p>
        </p:txBody>
      </p:sp>
      <p:sp>
        <p:nvSpPr>
          <p:cNvPr id="54" name="TextBox 54"/>
          <p:cNvSpPr txBox="1"/>
          <p:nvPr/>
        </p:nvSpPr>
        <p:spPr>
          <a:xfrm rot="-938700">
            <a:off x="1700260" y="2828870"/>
            <a:ext cx="130007" cy="31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1"/>
              </a:lnSpc>
            </a:pPr>
            <a:r>
              <a:rPr lang="en-US" sz="1636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</a:t>
            </a:r>
          </a:p>
        </p:txBody>
      </p:sp>
      <p:sp>
        <p:nvSpPr>
          <p:cNvPr id="55" name="TextBox 55"/>
          <p:cNvSpPr txBox="1"/>
          <p:nvPr/>
        </p:nvSpPr>
        <p:spPr>
          <a:xfrm rot="-684780">
            <a:off x="1827194" y="2803191"/>
            <a:ext cx="88706" cy="31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1"/>
              </a:lnSpc>
            </a:pPr>
            <a:r>
              <a:rPr lang="en-US" sz="1636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t</a:t>
            </a:r>
          </a:p>
        </p:txBody>
      </p:sp>
      <p:sp>
        <p:nvSpPr>
          <p:cNvPr id="56" name="TextBox 56"/>
          <p:cNvSpPr txBox="1"/>
          <p:nvPr/>
        </p:nvSpPr>
        <p:spPr>
          <a:xfrm rot="-428520">
            <a:off x="1915277" y="2785342"/>
            <a:ext cx="132083" cy="31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1"/>
              </a:lnSpc>
            </a:pPr>
            <a:r>
              <a:rPr lang="en-US" sz="1636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u</a:t>
            </a:r>
          </a:p>
        </p:txBody>
      </p:sp>
      <p:sp>
        <p:nvSpPr>
          <p:cNvPr id="57" name="TextBox 57"/>
          <p:cNvSpPr txBox="1"/>
          <p:nvPr/>
        </p:nvSpPr>
        <p:spPr>
          <a:xfrm rot="-116340">
            <a:off x="2047441" y="2774658"/>
            <a:ext cx="136846" cy="31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1"/>
              </a:lnSpc>
            </a:pPr>
            <a:r>
              <a:rPr lang="en-US" sz="1636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d</a:t>
            </a:r>
          </a:p>
        </p:txBody>
      </p:sp>
      <p:sp>
        <p:nvSpPr>
          <p:cNvPr id="58" name="TextBox 58"/>
          <p:cNvSpPr txBox="1"/>
          <p:nvPr/>
        </p:nvSpPr>
        <p:spPr>
          <a:xfrm rot="186600">
            <a:off x="2184594" y="2775998"/>
            <a:ext cx="124111" cy="31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1"/>
              </a:lnSpc>
            </a:pPr>
            <a:r>
              <a:rPr lang="en-US" sz="1636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e</a:t>
            </a:r>
          </a:p>
        </p:txBody>
      </p:sp>
      <p:sp>
        <p:nvSpPr>
          <p:cNvPr id="59" name="TextBox 59"/>
          <p:cNvSpPr txBox="1"/>
          <p:nvPr/>
        </p:nvSpPr>
        <p:spPr>
          <a:xfrm rot="485940">
            <a:off x="2308628" y="2788633"/>
            <a:ext cx="133741" cy="31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1"/>
              </a:lnSpc>
            </a:pPr>
            <a:r>
              <a:rPr lang="en-US" sz="1636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n</a:t>
            </a:r>
          </a:p>
        </p:txBody>
      </p:sp>
      <p:sp>
        <p:nvSpPr>
          <p:cNvPr id="60" name="TextBox 60"/>
          <p:cNvSpPr txBox="1"/>
          <p:nvPr/>
        </p:nvSpPr>
        <p:spPr>
          <a:xfrm rot="742260">
            <a:off x="2439702" y="2808319"/>
            <a:ext cx="88706" cy="31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1"/>
              </a:lnSpc>
            </a:pPr>
            <a:r>
              <a:rPr lang="en-US" sz="1636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t</a:t>
            </a:r>
          </a:p>
        </p:txBody>
      </p:sp>
      <p:sp>
        <p:nvSpPr>
          <p:cNvPr id="61" name="TextBox 61"/>
          <p:cNvSpPr txBox="1"/>
          <p:nvPr/>
        </p:nvSpPr>
        <p:spPr>
          <a:xfrm rot="967439">
            <a:off x="2525927" y="2832268"/>
            <a:ext cx="105270" cy="31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1"/>
              </a:lnSpc>
            </a:pPr>
            <a:r>
              <a:rPr lang="en-US" sz="1636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02843" y="3927767"/>
            <a:ext cx="2169814" cy="1343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Fairer, transparent and need-based hostel allocation with a digital admission experience.</a:t>
            </a:r>
          </a:p>
        </p:txBody>
      </p:sp>
      <p:sp>
        <p:nvSpPr>
          <p:cNvPr id="63" name="TextBox 63"/>
          <p:cNvSpPr txBox="1"/>
          <p:nvPr/>
        </p:nvSpPr>
        <p:spPr>
          <a:xfrm rot="-1261680">
            <a:off x="7911762" y="2776081"/>
            <a:ext cx="83048" cy="375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195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I</a:t>
            </a:r>
          </a:p>
        </p:txBody>
      </p:sp>
      <p:sp>
        <p:nvSpPr>
          <p:cNvPr id="64" name="TextBox 64"/>
          <p:cNvSpPr txBox="1"/>
          <p:nvPr/>
        </p:nvSpPr>
        <p:spPr>
          <a:xfrm rot="-1012079">
            <a:off x="7989993" y="2736252"/>
            <a:ext cx="160153" cy="375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195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n</a:t>
            </a:r>
          </a:p>
        </p:txBody>
      </p:sp>
      <p:sp>
        <p:nvSpPr>
          <p:cNvPr id="65" name="TextBox 65"/>
          <p:cNvSpPr txBox="1"/>
          <p:nvPr/>
        </p:nvSpPr>
        <p:spPr>
          <a:xfrm rot="-718380">
            <a:off x="8146484" y="2700320"/>
            <a:ext cx="126063" cy="375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195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</a:t>
            </a:r>
          </a:p>
        </p:txBody>
      </p:sp>
      <p:sp>
        <p:nvSpPr>
          <p:cNvPr id="66" name="TextBox 66"/>
          <p:cNvSpPr txBox="1"/>
          <p:nvPr/>
        </p:nvSpPr>
        <p:spPr>
          <a:xfrm rot="-480000">
            <a:off x="8271585" y="2679992"/>
            <a:ext cx="106232" cy="375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195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t</a:t>
            </a:r>
          </a:p>
        </p:txBody>
      </p:sp>
      <p:sp>
        <p:nvSpPr>
          <p:cNvPr id="67" name="TextBox 67"/>
          <p:cNvSpPr txBox="1"/>
          <p:nvPr/>
        </p:nvSpPr>
        <p:spPr>
          <a:xfrm rot="-295380">
            <a:off x="8377701" y="2669780"/>
            <a:ext cx="73628" cy="375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195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i</a:t>
            </a:r>
          </a:p>
        </p:txBody>
      </p:sp>
      <p:sp>
        <p:nvSpPr>
          <p:cNvPr id="68" name="TextBox 68"/>
          <p:cNvSpPr txBox="1"/>
          <p:nvPr/>
        </p:nvSpPr>
        <p:spPr>
          <a:xfrm rot="-110820">
            <a:off x="8452287" y="2664426"/>
            <a:ext cx="106232" cy="375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195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t</a:t>
            </a:r>
          </a:p>
        </p:txBody>
      </p:sp>
      <p:sp>
        <p:nvSpPr>
          <p:cNvPr id="69" name="TextBox 69"/>
          <p:cNvSpPr txBox="1"/>
          <p:nvPr/>
        </p:nvSpPr>
        <p:spPr>
          <a:xfrm rot="160560">
            <a:off x="8560178" y="2665388"/>
            <a:ext cx="158172" cy="375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195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u</a:t>
            </a:r>
          </a:p>
        </p:txBody>
      </p:sp>
      <p:sp>
        <p:nvSpPr>
          <p:cNvPr id="70" name="TextBox 70"/>
          <p:cNvSpPr txBox="1"/>
          <p:nvPr/>
        </p:nvSpPr>
        <p:spPr>
          <a:xfrm rot="431880">
            <a:off x="8718476" y="2676855"/>
            <a:ext cx="106232" cy="375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195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t</a:t>
            </a:r>
          </a:p>
        </p:txBody>
      </p:sp>
      <p:sp>
        <p:nvSpPr>
          <p:cNvPr id="71" name="TextBox 71"/>
          <p:cNvSpPr txBox="1"/>
          <p:nvPr/>
        </p:nvSpPr>
        <p:spPr>
          <a:xfrm rot="616500">
            <a:off x="8824125" y="2690643"/>
            <a:ext cx="73628" cy="375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195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i</a:t>
            </a:r>
          </a:p>
        </p:txBody>
      </p:sp>
      <p:sp>
        <p:nvSpPr>
          <p:cNvPr id="72" name="TextBox 72"/>
          <p:cNvSpPr txBox="1"/>
          <p:nvPr/>
        </p:nvSpPr>
        <p:spPr>
          <a:xfrm rot="855120">
            <a:off x="8896937" y="2715556"/>
            <a:ext cx="158915" cy="375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195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o</a:t>
            </a:r>
          </a:p>
        </p:txBody>
      </p:sp>
      <p:sp>
        <p:nvSpPr>
          <p:cNvPr id="73" name="TextBox 73"/>
          <p:cNvSpPr txBox="1"/>
          <p:nvPr/>
        </p:nvSpPr>
        <p:spPr>
          <a:xfrm rot="1182540">
            <a:off x="9050192" y="2762546"/>
            <a:ext cx="160153" cy="375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3"/>
              </a:lnSpc>
            </a:pPr>
            <a:r>
              <a:rPr lang="en-US" sz="1959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n</a:t>
            </a:r>
          </a:p>
        </p:txBody>
      </p:sp>
      <p:sp>
        <p:nvSpPr>
          <p:cNvPr id="74" name="TextBox 74"/>
          <p:cNvSpPr txBox="1"/>
          <p:nvPr/>
        </p:nvSpPr>
        <p:spPr>
          <a:xfrm rot="2684760">
            <a:off x="4242253" y="5200186"/>
            <a:ext cx="189005" cy="34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H</a:t>
            </a:r>
          </a:p>
        </p:txBody>
      </p:sp>
      <p:sp>
        <p:nvSpPr>
          <p:cNvPr id="75" name="TextBox 75"/>
          <p:cNvSpPr txBox="1"/>
          <p:nvPr/>
        </p:nvSpPr>
        <p:spPr>
          <a:xfrm rot="2306220">
            <a:off x="4381509" y="5306893"/>
            <a:ext cx="150219" cy="34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o</a:t>
            </a:r>
          </a:p>
        </p:txBody>
      </p:sp>
      <p:sp>
        <p:nvSpPr>
          <p:cNvPr id="76" name="TextBox 76"/>
          <p:cNvSpPr txBox="1"/>
          <p:nvPr/>
        </p:nvSpPr>
        <p:spPr>
          <a:xfrm rot="2005679">
            <a:off x="4500112" y="5381856"/>
            <a:ext cx="119167" cy="34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</a:t>
            </a:r>
          </a:p>
        </p:txBody>
      </p:sp>
      <p:sp>
        <p:nvSpPr>
          <p:cNvPr id="77" name="TextBox 77"/>
          <p:cNvSpPr txBox="1"/>
          <p:nvPr/>
        </p:nvSpPr>
        <p:spPr>
          <a:xfrm rot="1760640">
            <a:off x="4598185" y="5436050"/>
            <a:ext cx="100422" cy="34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t</a:t>
            </a:r>
          </a:p>
        </p:txBody>
      </p:sp>
      <p:sp>
        <p:nvSpPr>
          <p:cNvPr id="78" name="TextBox 78"/>
          <p:cNvSpPr txBox="1"/>
          <p:nvPr/>
        </p:nvSpPr>
        <p:spPr>
          <a:xfrm rot="1491840">
            <a:off x="4680218" y="5488087"/>
            <a:ext cx="140494" cy="34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e</a:t>
            </a:r>
          </a:p>
        </p:txBody>
      </p:sp>
      <p:sp>
        <p:nvSpPr>
          <p:cNvPr id="79" name="TextBox 79"/>
          <p:cNvSpPr txBox="1"/>
          <p:nvPr/>
        </p:nvSpPr>
        <p:spPr>
          <a:xfrm rot="1252140">
            <a:off x="4806483" y="5527651"/>
            <a:ext cx="74285" cy="34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l</a:t>
            </a:r>
          </a:p>
        </p:txBody>
      </p:sp>
      <p:sp>
        <p:nvSpPr>
          <p:cNvPr id="80" name="TextBox 80"/>
          <p:cNvSpPr txBox="1"/>
          <p:nvPr/>
        </p:nvSpPr>
        <p:spPr>
          <a:xfrm rot="856680">
            <a:off x="4921223" y="5578390"/>
            <a:ext cx="166973" cy="34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A</a:t>
            </a:r>
          </a:p>
        </p:txBody>
      </p:sp>
      <p:sp>
        <p:nvSpPr>
          <p:cNvPr id="81" name="TextBox 81"/>
          <p:cNvSpPr txBox="1"/>
          <p:nvPr/>
        </p:nvSpPr>
        <p:spPr>
          <a:xfrm rot="497520">
            <a:off x="5076755" y="5608257"/>
            <a:ext cx="154905" cy="34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d</a:t>
            </a:r>
          </a:p>
        </p:txBody>
      </p:sp>
      <p:sp>
        <p:nvSpPr>
          <p:cNvPr id="82" name="TextBox 82"/>
          <p:cNvSpPr txBox="1"/>
          <p:nvPr/>
        </p:nvSpPr>
        <p:spPr>
          <a:xfrm rot="75180">
            <a:off x="5221859" y="5623176"/>
            <a:ext cx="223571" cy="34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m</a:t>
            </a:r>
          </a:p>
        </p:txBody>
      </p:sp>
      <p:sp>
        <p:nvSpPr>
          <p:cNvPr id="83" name="TextBox 83"/>
          <p:cNvSpPr txBox="1"/>
          <p:nvPr/>
        </p:nvSpPr>
        <p:spPr>
          <a:xfrm rot="-251940">
            <a:off x="5436216" y="5619608"/>
            <a:ext cx="69599" cy="34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i</a:t>
            </a:r>
          </a:p>
        </p:txBody>
      </p:sp>
      <p:sp>
        <p:nvSpPr>
          <p:cNvPr id="84" name="TextBox 84"/>
          <p:cNvSpPr txBox="1"/>
          <p:nvPr/>
        </p:nvSpPr>
        <p:spPr>
          <a:xfrm rot="-498539">
            <a:off x="5500292" y="5608191"/>
            <a:ext cx="151390" cy="34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n</a:t>
            </a:r>
          </a:p>
        </p:txBody>
      </p:sp>
      <p:sp>
        <p:nvSpPr>
          <p:cNvPr id="85" name="TextBox 85"/>
          <p:cNvSpPr txBox="1"/>
          <p:nvPr/>
        </p:nvSpPr>
        <p:spPr>
          <a:xfrm rot="-745140">
            <a:off x="5643437" y="5589348"/>
            <a:ext cx="69599" cy="34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i</a:t>
            </a:r>
          </a:p>
        </p:txBody>
      </p:sp>
      <p:sp>
        <p:nvSpPr>
          <p:cNvPr id="86" name="TextBox 86"/>
          <p:cNvSpPr txBox="1"/>
          <p:nvPr/>
        </p:nvSpPr>
        <p:spPr>
          <a:xfrm rot="-955740">
            <a:off x="5705929" y="5567421"/>
            <a:ext cx="119167" cy="34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</a:t>
            </a:r>
          </a:p>
        </p:txBody>
      </p:sp>
      <p:sp>
        <p:nvSpPr>
          <p:cNvPr id="87" name="TextBox 87"/>
          <p:cNvSpPr txBox="1"/>
          <p:nvPr/>
        </p:nvSpPr>
        <p:spPr>
          <a:xfrm rot="-1200780">
            <a:off x="5814139" y="5535322"/>
            <a:ext cx="100422" cy="34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t</a:t>
            </a:r>
          </a:p>
        </p:txBody>
      </p:sp>
      <p:sp>
        <p:nvSpPr>
          <p:cNvPr id="88" name="TextBox 88"/>
          <p:cNvSpPr txBox="1"/>
          <p:nvPr/>
        </p:nvSpPr>
        <p:spPr>
          <a:xfrm rot="-1425900">
            <a:off x="5902453" y="5499643"/>
            <a:ext cx="101356" cy="34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r</a:t>
            </a:r>
          </a:p>
        </p:txBody>
      </p:sp>
      <p:sp>
        <p:nvSpPr>
          <p:cNvPr id="89" name="TextBox 89"/>
          <p:cNvSpPr txBox="1"/>
          <p:nvPr/>
        </p:nvSpPr>
        <p:spPr>
          <a:xfrm rot="-1691100">
            <a:off x="5986615" y="5450307"/>
            <a:ext cx="136274" cy="34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a</a:t>
            </a:r>
          </a:p>
        </p:txBody>
      </p:sp>
      <p:sp>
        <p:nvSpPr>
          <p:cNvPr id="90" name="TextBox 90"/>
          <p:cNvSpPr txBox="1"/>
          <p:nvPr/>
        </p:nvSpPr>
        <p:spPr>
          <a:xfrm rot="-1955160">
            <a:off x="6100995" y="5393552"/>
            <a:ext cx="100422" cy="34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t</a:t>
            </a:r>
          </a:p>
        </p:txBody>
      </p:sp>
      <p:sp>
        <p:nvSpPr>
          <p:cNvPr id="91" name="TextBox 91"/>
          <p:cNvSpPr txBox="1"/>
          <p:nvPr/>
        </p:nvSpPr>
        <p:spPr>
          <a:xfrm rot="-2144880">
            <a:off x="6182795" y="5348280"/>
            <a:ext cx="69599" cy="34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i</a:t>
            </a:r>
          </a:p>
        </p:txBody>
      </p:sp>
      <p:sp>
        <p:nvSpPr>
          <p:cNvPr id="92" name="TextBox 92"/>
          <p:cNvSpPr txBox="1"/>
          <p:nvPr/>
        </p:nvSpPr>
        <p:spPr>
          <a:xfrm rot="-2390160">
            <a:off x="6225656" y="5284407"/>
            <a:ext cx="150219" cy="34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o</a:t>
            </a:r>
          </a:p>
        </p:txBody>
      </p:sp>
      <p:sp>
        <p:nvSpPr>
          <p:cNvPr id="93" name="TextBox 93"/>
          <p:cNvSpPr txBox="1"/>
          <p:nvPr/>
        </p:nvSpPr>
        <p:spPr>
          <a:xfrm rot="-2726700">
            <a:off x="6330232" y="5187527"/>
            <a:ext cx="151390" cy="348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>
                <a:solidFill>
                  <a:srgbClr val="000000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n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7546819" y="3547139"/>
            <a:ext cx="2070897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Better utilization of hostel capacity with centralized records, analytics and accountable decision- making.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4285955" y="3581181"/>
            <a:ext cx="2194065" cy="1801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5"/>
              </a:lnSpc>
            </a:pPr>
            <a:r>
              <a:rPr lang="en-US" sz="1454" spc="1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Reduced paperwork and faster management of applications, rooms, payments,</a:t>
            </a:r>
          </a:p>
          <a:p>
            <a:pPr algn="ctr">
              <a:lnSpc>
                <a:spcPts val="2035"/>
              </a:lnSpc>
            </a:pPr>
            <a:r>
              <a:rPr lang="en-US" sz="1454" spc="1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cancellations and waiting lists.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987066" y="2004612"/>
            <a:ext cx="4561075" cy="765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5"/>
              </a:lnSpc>
            </a:pPr>
            <a:r>
              <a:rPr lang="en-US" sz="4396" b="1">
                <a:solidFill>
                  <a:srgbClr val="00264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OUR IMPACT ON:</a:t>
            </a:r>
          </a:p>
        </p:txBody>
      </p:sp>
      <p:sp>
        <p:nvSpPr>
          <p:cNvPr id="97" name="TextBox 97"/>
          <p:cNvSpPr txBox="1"/>
          <p:nvPr/>
        </p:nvSpPr>
        <p:spPr>
          <a:xfrm rot="-4785780">
            <a:off x="11297809" y="3038904"/>
            <a:ext cx="311944" cy="609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7"/>
              </a:lnSpc>
            </a:pPr>
            <a:r>
              <a:rPr lang="en-US" sz="3562" b="1">
                <a:solidFill>
                  <a:srgbClr val="00264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</a:t>
            </a:r>
          </a:p>
        </p:txBody>
      </p:sp>
      <p:sp>
        <p:nvSpPr>
          <p:cNvPr id="98" name="TextBox 98"/>
          <p:cNvSpPr txBox="1"/>
          <p:nvPr/>
        </p:nvSpPr>
        <p:spPr>
          <a:xfrm rot="-3883560">
            <a:off x="11400283" y="2762771"/>
            <a:ext cx="283331" cy="609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7"/>
              </a:lnSpc>
            </a:pPr>
            <a:r>
              <a:rPr lang="en-US" sz="3562" b="1">
                <a:solidFill>
                  <a:srgbClr val="00264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</a:t>
            </a:r>
          </a:p>
        </p:txBody>
      </p:sp>
      <p:sp>
        <p:nvSpPr>
          <p:cNvPr id="99" name="TextBox 99"/>
          <p:cNvSpPr txBox="1"/>
          <p:nvPr/>
        </p:nvSpPr>
        <p:spPr>
          <a:xfrm rot="-2917020">
            <a:off x="11536051" y="2503305"/>
            <a:ext cx="354397" cy="609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7"/>
              </a:lnSpc>
            </a:pPr>
            <a:r>
              <a:rPr lang="en-US" sz="3562" b="1">
                <a:solidFill>
                  <a:srgbClr val="00264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</a:t>
            </a:r>
          </a:p>
        </p:txBody>
      </p:sp>
      <p:sp>
        <p:nvSpPr>
          <p:cNvPr id="100" name="TextBox 100"/>
          <p:cNvSpPr txBox="1"/>
          <p:nvPr/>
        </p:nvSpPr>
        <p:spPr>
          <a:xfrm rot="-1950419">
            <a:off x="11806790" y="2301396"/>
            <a:ext cx="283331" cy="609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7"/>
              </a:lnSpc>
            </a:pPr>
            <a:r>
              <a:rPr lang="en-US" sz="3562" b="1">
                <a:solidFill>
                  <a:srgbClr val="00264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</a:t>
            </a:r>
          </a:p>
        </p:txBody>
      </p:sp>
      <p:sp>
        <p:nvSpPr>
          <p:cNvPr id="101" name="TextBox 101"/>
          <p:cNvSpPr txBox="1"/>
          <p:nvPr/>
        </p:nvSpPr>
        <p:spPr>
          <a:xfrm rot="-1111200">
            <a:off x="12056662" y="2185161"/>
            <a:ext cx="270415" cy="609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7"/>
              </a:lnSpc>
            </a:pPr>
            <a:r>
              <a:rPr lang="en-US" sz="3562" b="1">
                <a:solidFill>
                  <a:srgbClr val="00264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F</a:t>
            </a:r>
          </a:p>
        </p:txBody>
      </p:sp>
      <p:sp>
        <p:nvSpPr>
          <p:cNvPr id="102" name="TextBox 102"/>
          <p:cNvSpPr txBox="1"/>
          <p:nvPr/>
        </p:nvSpPr>
        <p:spPr>
          <a:xfrm rot="-499920">
            <a:off x="12315452" y="2139496"/>
            <a:ext cx="132902" cy="609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7"/>
              </a:lnSpc>
            </a:pPr>
            <a:r>
              <a:rPr lang="en-US" sz="3562" b="1">
                <a:solidFill>
                  <a:srgbClr val="00264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</a:t>
            </a:r>
          </a:p>
        </p:txBody>
      </p:sp>
      <p:sp>
        <p:nvSpPr>
          <p:cNvPr id="103" name="TextBox 103"/>
          <p:cNvSpPr txBox="1"/>
          <p:nvPr/>
        </p:nvSpPr>
        <p:spPr>
          <a:xfrm rot="97380">
            <a:off x="12444518" y="2128231"/>
            <a:ext cx="261185" cy="609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7"/>
              </a:lnSpc>
            </a:pPr>
            <a:r>
              <a:rPr lang="en-US" sz="3562" b="1">
                <a:solidFill>
                  <a:srgbClr val="00264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</a:t>
            </a:r>
          </a:p>
        </p:txBody>
      </p:sp>
      <p:sp>
        <p:nvSpPr>
          <p:cNvPr id="104" name="TextBox 104"/>
          <p:cNvSpPr txBox="1"/>
          <p:nvPr/>
        </p:nvSpPr>
        <p:spPr>
          <a:xfrm rot="945060">
            <a:off x="12695826" y="2169390"/>
            <a:ext cx="298094" cy="609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87"/>
              </a:lnSpc>
            </a:pPr>
            <a:r>
              <a:rPr lang="en-US" sz="3562" b="1">
                <a:solidFill>
                  <a:srgbClr val="00264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3841959" y="2641359"/>
            <a:ext cx="1181695" cy="449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537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SOCIAL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13761129" y="5083653"/>
            <a:ext cx="4036510" cy="618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1"/>
              </a:lnSpc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Low-cost deployment using Google Workspace </a:t>
            </a:r>
          </a:p>
          <a:p>
            <a:pPr algn="l">
              <a:lnSpc>
                <a:spcPts val="1671"/>
              </a:lnSpc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Reduced administrative paperwork</a:t>
            </a:r>
          </a:p>
          <a:p>
            <a:pPr algn="l">
              <a:lnSpc>
                <a:spcPts val="1671"/>
              </a:lnSpc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Better utilization of available hostel capacity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3761129" y="6454826"/>
            <a:ext cx="1324153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DIGITAL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3203641" y="9172632"/>
            <a:ext cx="64780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10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3427533" y="9206051"/>
            <a:ext cx="77648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 spc="10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3761129" y="3228365"/>
            <a:ext cx="3592068" cy="618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1"/>
              </a:lnSpc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Fair access based on Need and Distance Improved accessibility for PwD Students Transparent allocation and reduced bias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3594824" y="6988708"/>
            <a:ext cx="3924679" cy="620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1"/>
              </a:lnSpc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▪︎Digital application, verification and  registration </a:t>
            </a:r>
          </a:p>
          <a:p>
            <a:pPr algn="l">
              <a:lnSpc>
                <a:spcPts val="1651"/>
              </a:lnSpc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▪︎Digital documents, receipts and allotment letter generation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13658344" y="9307162"/>
            <a:ext cx="1067019" cy="438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lang="en-US" sz="1251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Reduced processes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4569208" y="9307162"/>
            <a:ext cx="686855" cy="244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1"/>
              </a:lnSpc>
            </a:pPr>
            <a:r>
              <a:rPr lang="en-US" sz="1251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physical 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5439738" y="9307162"/>
            <a:ext cx="446551" cy="244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1"/>
              </a:lnSpc>
            </a:pPr>
            <a:r>
              <a:rPr lang="en-US" sz="1251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visits 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6074680" y="9307162"/>
            <a:ext cx="334615" cy="244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1"/>
              </a:lnSpc>
            </a:pPr>
            <a:r>
              <a:rPr lang="en-US" sz="1251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and 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16599886" y="9307162"/>
            <a:ext cx="1125808" cy="244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1"/>
              </a:lnSpc>
            </a:pPr>
            <a:r>
              <a:rPr lang="en-US" sz="1251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administrative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3669213" y="4556176"/>
            <a:ext cx="1796207" cy="423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2"/>
              </a:lnSpc>
            </a:pPr>
            <a:r>
              <a:rPr lang="en-US" sz="2437" b="1">
                <a:solidFill>
                  <a:srgbClr val="000000"/>
                </a:solidFill>
                <a:latin typeface="Garamond Bold"/>
                <a:ea typeface="Garamond Bold"/>
                <a:cs typeface="Garamond Bold"/>
                <a:sym typeface="Garamond Bold"/>
              </a:rPr>
              <a:t>ECONOMIC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8049" y="1838620"/>
            <a:ext cx="15614599" cy="8032747"/>
          </a:xfrm>
          <a:custGeom>
            <a:avLst/>
            <a:gdLst/>
            <a:ahLst/>
            <a:cxnLst/>
            <a:rect l="l" t="t" r="r" b="b"/>
            <a:pathLst>
              <a:path w="15614599" h="8032747">
                <a:moveTo>
                  <a:pt x="0" y="0"/>
                </a:moveTo>
                <a:lnTo>
                  <a:pt x="15614599" y="0"/>
                </a:lnTo>
                <a:lnTo>
                  <a:pt x="15614599" y="8032747"/>
                </a:lnTo>
                <a:lnTo>
                  <a:pt x="0" y="8032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66683" y="8537905"/>
            <a:ext cx="847134" cy="1000125"/>
            <a:chOff x="0" y="0"/>
            <a:chExt cx="1129513" cy="1333500"/>
          </a:xfrm>
        </p:grpSpPr>
        <p:sp>
          <p:nvSpPr>
            <p:cNvPr id="4" name="Freeform 4"/>
            <p:cNvSpPr/>
            <p:nvPr/>
          </p:nvSpPr>
          <p:spPr>
            <a:xfrm flipH="1">
              <a:off x="0" y="0"/>
              <a:ext cx="1129538" cy="1333500"/>
            </a:xfrm>
            <a:custGeom>
              <a:avLst/>
              <a:gdLst/>
              <a:ahLst/>
              <a:cxnLst/>
              <a:rect l="l" t="t" r="r" b="b"/>
              <a:pathLst>
                <a:path w="1129538" h="1333500">
                  <a:moveTo>
                    <a:pt x="1129538" y="0"/>
                  </a:moveTo>
                  <a:lnTo>
                    <a:pt x="0" y="0"/>
                  </a:lnTo>
                  <a:lnTo>
                    <a:pt x="0" y="1333500"/>
                  </a:lnTo>
                  <a:lnTo>
                    <a:pt x="1129538" y="1333500"/>
                  </a:lnTo>
                  <a:lnTo>
                    <a:pt x="1129538" y="0"/>
                  </a:lnTo>
                  <a:close/>
                </a:path>
              </a:pathLst>
            </a:custGeom>
            <a:blipFill>
              <a:blip r:embed="rId3"/>
              <a:stretch>
                <a:fillRect r="-67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4953565" y="133966"/>
            <a:ext cx="3181277" cy="1789468"/>
          </a:xfrm>
          <a:custGeom>
            <a:avLst/>
            <a:gdLst/>
            <a:ahLst/>
            <a:cxnLst/>
            <a:rect l="l" t="t" r="r" b="b"/>
            <a:pathLst>
              <a:path w="3181277" h="1789468">
                <a:moveTo>
                  <a:pt x="0" y="0"/>
                </a:moveTo>
                <a:lnTo>
                  <a:pt x="3181277" y="0"/>
                </a:lnTo>
                <a:lnTo>
                  <a:pt x="3181277" y="1789468"/>
                </a:lnTo>
                <a:lnTo>
                  <a:pt x="0" y="1789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359" r="-335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246356" y="9643853"/>
            <a:ext cx="129683" cy="32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846822" y="433340"/>
            <a:ext cx="11362839" cy="102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8"/>
              </a:lnSpc>
            </a:pPr>
            <a:r>
              <a:rPr lang="en-US" sz="5999" b="1">
                <a:solidFill>
                  <a:srgbClr val="3D17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RESEARCH AND REFERENCES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300826"/>
            <a:ext cx="2400300" cy="303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1758" b="1" spc="56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PAPERS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50869" y="3695952"/>
            <a:ext cx="13738279" cy="183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9638" lvl="1" indent="-189819" algn="l">
              <a:lnSpc>
                <a:spcPts val="2423"/>
              </a:lnSpc>
              <a:buFont typeface="Arial"/>
              <a:buChar char="•"/>
            </a:pPr>
            <a:r>
              <a:rPr lang="en-US" sz="1758" spc="8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Students’ Accommodation Allocation: A Multicriteria Decision Support System — AHP, Weighted Sum &amp; PROMETHEE for student accommodation ranking. </a:t>
            </a:r>
          </a:p>
          <a:p>
            <a:pPr marL="379638" lvl="1" indent="-189819" algn="l">
              <a:lnSpc>
                <a:spcPts val="2423"/>
              </a:lnSpc>
              <a:buFont typeface="Arial"/>
              <a:buChar char="•"/>
            </a:pPr>
            <a:r>
              <a:rPr lang="en-US" sz="1758" spc="8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Stable Matching of Student-Groups to Dormitories — Fair and stable approaches to student–dormitory allocation. </a:t>
            </a:r>
          </a:p>
          <a:p>
            <a:pPr marL="379638" lvl="1" indent="-189819" algn="l">
              <a:lnSpc>
                <a:spcPts val="2423"/>
              </a:lnSpc>
              <a:buFont typeface="Arial"/>
              <a:buChar char="•"/>
            </a:pPr>
            <a:r>
              <a:rPr lang="en-US" sz="1758" spc="8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Multi-Level Genetic Algorithm for Hostel Space Allocation — Optimization approaches for real-world university hostel allocation.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6683" y="5570727"/>
            <a:ext cx="2886299" cy="30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1758" b="1" spc="5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TECHNICAL REFERENCES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50869" y="5918871"/>
            <a:ext cx="10408025" cy="153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9638" lvl="1" indent="-189819" algn="l">
              <a:lnSpc>
                <a:spcPts val="2423"/>
              </a:lnSpc>
              <a:buFont typeface="Arial"/>
              <a:buChar char="•"/>
            </a:pPr>
            <a:r>
              <a:rPr lang="en-US" sz="1758" spc="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Google Apps Script Documentation — Web apps, automation and Google Workspace integration. Google Apps Script Services &amp; APIs — Sheets, Drive, Gmail and external API integration. </a:t>
            </a:r>
          </a:p>
          <a:p>
            <a:pPr marL="379638" lvl="1" indent="-189819" algn="l">
              <a:lnSpc>
                <a:spcPts val="2423"/>
              </a:lnSpc>
              <a:buFont typeface="Arial"/>
              <a:buChar char="•"/>
            </a:pPr>
            <a:r>
              <a:rPr lang="en-US" sz="1758" spc="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Google Apps Script Quotas &amp; Limitations — Deployment and scalability considerations.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6683" y="7574570"/>
            <a:ext cx="3037805" cy="30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1"/>
              </a:lnSpc>
            </a:pPr>
            <a:r>
              <a:rPr lang="en-US" sz="1758" b="1" spc="5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INSIGHTS USED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50869" y="8006156"/>
            <a:ext cx="7157876" cy="153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9638" lvl="1" indent="-189819" algn="l">
              <a:lnSpc>
                <a:spcPts val="2423"/>
              </a:lnSpc>
              <a:buFont typeface="Arial"/>
              <a:buChar char="•"/>
            </a:pPr>
            <a:r>
              <a:rPr lang="en-US" sz="1758" spc="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Multi-criteria ranking → Priority-based student allocation</a:t>
            </a:r>
          </a:p>
          <a:p>
            <a:pPr marL="379638" lvl="1" indent="-189819" algn="l">
              <a:lnSpc>
                <a:spcPts val="2423"/>
              </a:lnSpc>
              <a:buFont typeface="Arial"/>
              <a:buChar char="•"/>
            </a:pPr>
            <a:r>
              <a:rPr lang="en-US" sz="1758" spc="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Stable/fair matching → Transparent room assignment</a:t>
            </a:r>
          </a:p>
          <a:p>
            <a:pPr marL="379638" lvl="1" indent="-189819" algn="l">
              <a:lnSpc>
                <a:spcPts val="2423"/>
              </a:lnSpc>
              <a:buFont typeface="Arial"/>
              <a:buChar char="•"/>
            </a:pPr>
            <a:r>
              <a:rPr lang="en-US" sz="1758" spc="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Optimization techniques → Efficient use of limited rooms</a:t>
            </a:r>
          </a:p>
          <a:p>
            <a:pPr marL="379638" lvl="1" indent="-189819" algn="l">
              <a:lnSpc>
                <a:spcPts val="2423"/>
              </a:lnSpc>
              <a:buFont typeface="Arial"/>
              <a:buChar char="•"/>
            </a:pPr>
            <a:r>
              <a:rPr lang="en-US" sz="1758" spc="5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protection principles → Secure document &amp; address handling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1108</Words>
  <Application>Microsoft Office PowerPoint</Application>
  <PresentationFormat>Custom</PresentationFormat>
  <Paragraphs>241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2" baseType="lpstr">
      <vt:lpstr>Garamond Bold</vt:lpstr>
      <vt:lpstr>Montserrat</vt:lpstr>
      <vt:lpstr>Times New Roman MT Bold</vt:lpstr>
      <vt:lpstr>Bricolage Grotesque Bold</vt:lpstr>
      <vt:lpstr>Poppins Bold</vt:lpstr>
      <vt:lpstr>Code Bold</vt:lpstr>
      <vt:lpstr>Calibri</vt:lpstr>
      <vt:lpstr>Arimo</vt:lpstr>
      <vt:lpstr>CanvaSansSC-Regular</vt:lpstr>
      <vt:lpstr>Bricolage Grotesque</vt:lpstr>
      <vt:lpstr>Arial Bold</vt:lpstr>
      <vt:lpstr>Arimo Bold</vt:lpstr>
      <vt:lpstr>Poppins</vt:lpstr>
      <vt:lpstr>Code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ZeroCommit </dc:title>
  <cp:lastModifiedBy>vishal singh</cp:lastModifiedBy>
  <cp:revision>8</cp:revision>
  <dcterms:created xsi:type="dcterms:W3CDTF">2006-08-16T00:00:00Z</dcterms:created>
  <dcterms:modified xsi:type="dcterms:W3CDTF">2026-09-01T03:21:49Z</dcterms:modified>
  <dc:identifier>DAHTIcrbtak</dc:identifier>
</cp:coreProperties>
</file>